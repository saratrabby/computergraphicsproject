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81" r:id="rId5"/>
    <p:sldId id="284" r:id="rId6"/>
    <p:sldId id="280" r:id="rId7"/>
    <p:sldId id="278" r:id="rId8"/>
    <p:sldId id="261" r:id="rId9"/>
    <p:sldId id="273" r:id="rId10"/>
    <p:sldId id="279" r:id="rId11"/>
    <p:sldId id="265" r:id="rId12"/>
    <p:sldId id="277" r:id="rId13"/>
    <p:sldId id="268" r:id="rId14"/>
    <p:sldId id="266" r:id="rId15"/>
    <p:sldId id="292" r:id="rId16"/>
    <p:sldId id="282" r:id="rId17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80" d="100"/>
          <a:sy n="80" d="100"/>
        </p:scale>
        <p:origin x="3990" y="1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E71E859D-C47D-46B4-B7F3-6BD17F513007}" type="datetime1">
              <a:rPr lang="it-IT" smtClean="0"/>
              <a:t>02/06/2026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EF757874-EF65-4B61-B062-40C932C8129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fld id="{23B6FD2F-C36A-48EA-8805-F7618F8DDC26}" type="datetime1">
              <a:rPr lang="it-IT" smtClean="0"/>
              <a:pPr/>
              <a:t>02/06/2026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55247812-3409-784D-BAE7-ABE53735D5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9187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23A35-1FA6-84F9-C9C9-8EFD760A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7CDB01-A300-500A-E9FF-5021D5B21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3B90371-6E13-9BA6-3274-E7DFC0AA8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DD689E-823E-FB48-22C9-BEE63C553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72940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501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545011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8339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55431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379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56139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86319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7671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6387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74E77-8F7F-C091-A6CD-F95913330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9FF8D03-BCD3-2516-5A17-7890FD56F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143AAD0-5D1A-5384-531C-8A99D3C155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2E54F1F-92BA-AFB1-9D22-E7208D0FE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62739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55247812-3409-784D-BAE7-ABE53735D59F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3645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egnaposto immagine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rtlCol="0" anchor="ctr" anchorCtr="0">
            <a:noAutofit/>
          </a:bodyPr>
          <a:lstStyle>
            <a:lvl1pPr algn="ctr">
              <a:defRPr lang="it-IT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2816" y="457200"/>
            <a:ext cx="4837176" cy="1993392"/>
          </a:xfrm>
        </p:spPr>
        <p:txBody>
          <a:bodyPr rtlCol="0" anchor="b">
            <a:noAutofit/>
          </a:bodyPr>
          <a:lstStyle>
            <a:lvl1pPr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6B8CBAD6-FC79-B2BB-0B67-26429A6D4C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8882" y="0"/>
            <a:ext cx="6115050" cy="6858000"/>
          </a:xfrm>
          <a:prstGeom prst="parallelogram">
            <a:avLst/>
          </a:prstGeom>
          <a:ln>
            <a:noFill/>
          </a:ln>
        </p:spPr>
        <p:txBody>
          <a:bodyPr tIns="0" rtlCol="0">
            <a:normAutofit/>
          </a:bodyPr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2818" y="2752344"/>
            <a:ext cx="4837174" cy="3136392"/>
          </a:xfrm>
        </p:spPr>
        <p:txBody>
          <a:bodyPr rtlCol="0" anchor="t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lang="it-IT" sz="1800" cap="all" spc="300" baseline="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34796A3-781D-5244-DAB8-2D6EE0AC3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817" y="6303963"/>
            <a:ext cx="301498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 +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rtlCol="0" anchor="b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12" name="Segnaposto immagine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 rtlCol="0">
            <a:normAutofit/>
          </a:bodyPr>
          <a:lstStyle>
            <a:lvl1pPr marL="0" indent="0" algn="l">
              <a:buNone/>
              <a:defRPr lang="it-IT" sz="2000"/>
            </a:lvl1pPr>
          </a:lstStyle>
          <a:p>
            <a:pPr rtl="0"/>
            <a:r>
              <a:rPr lang="it-IT"/>
              <a:t>Fai clic sull'icona per inserire un'immagine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200000" scaled="0"/>
            <a:tileRect/>
          </a:gradFill>
        </p:spPr>
        <p:txBody>
          <a:bodyPr rtlCol="0" anchor="ctr">
            <a:normAutofit/>
          </a:bodyPr>
          <a:lstStyle>
            <a:lvl1pPr marL="0" indent="0" algn="ctr">
              <a:buNone/>
              <a:defRPr lang="it-IT" sz="2400" cap="all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sottotitolo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425" y="466344"/>
            <a:ext cx="6241651" cy="1710354"/>
          </a:xfrm>
        </p:spPr>
        <p:txBody>
          <a:bodyPr bIns="0" rtlCol="0" anchor="ctr" anchorCtr="0">
            <a:noAutofit/>
          </a:bodyPr>
          <a:lstStyle>
            <a:lvl1pPr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511A5385-FB23-93A8-2B8F-9887244244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287838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242426" y="2286000"/>
            <a:ext cx="6241650" cy="3474720"/>
          </a:xfrm>
        </p:spPr>
        <p:txBody>
          <a:bodyPr rtlCol="0"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rtlCol="0" anchor="b">
            <a:noAutofit/>
          </a:bodyPr>
          <a:lstStyle>
            <a:lvl1pPr algn="ctr">
              <a:defRPr lang="it-IT" sz="48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</a:gradFill>
        </p:spPr>
        <p:txBody>
          <a:bodyPr rtlCol="0" anchor="ctr">
            <a:normAutofit/>
          </a:bodyPr>
          <a:lstStyle>
            <a:lvl1pPr marL="0" indent="0" algn="ctr">
              <a:buNone/>
              <a:defRPr lang="it-IT"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sottotitolo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29577E27-B60E-C6DD-BAAF-5CCC3D59E5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9" name="Segnaposto contenuto 10">
            <a:extLst>
              <a:ext uri="{FF2B5EF4-FFF2-40B4-BE49-F238E27FC236}">
                <a16:creationId xmlns:a16="http://schemas.microsoft.com/office/drawing/2014/main" id="{964CA031-27E0-D0AA-1451-A904CCF234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199" y="2024781"/>
            <a:ext cx="5212079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2" name="Segnaposto contenuto 10">
            <a:extLst>
              <a:ext uri="{FF2B5EF4-FFF2-40B4-BE49-F238E27FC236}">
                <a16:creationId xmlns:a16="http://schemas.microsoft.com/office/drawing/2014/main" id="{81FE0D7D-86B7-CCD2-A7A1-70E95846B5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1" name="Segnaposto contenuto 10">
            <a:extLst>
              <a:ext uri="{FF2B5EF4-FFF2-40B4-BE49-F238E27FC236}">
                <a16:creationId xmlns:a16="http://schemas.microsoft.com/office/drawing/2014/main" id="{2D2DE411-9D7C-15AE-0B59-F26B2BF8C52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2024781"/>
            <a:ext cx="2878394" cy="4137189"/>
          </a:xfrm>
        </p:spPr>
        <p:txBody>
          <a:bodyPr rtlCol="0">
            <a:normAutofit/>
          </a:bodyPr>
          <a:lstStyle>
            <a:lvl1pPr marL="3429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eriod"/>
              <a:defRPr lang="it-IT" sz="1800">
                <a:latin typeface="+mn-lt"/>
              </a:defRPr>
            </a:lvl1pPr>
            <a:lvl2pPr marL="8001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eriod"/>
              <a:defRPr lang="it-IT" sz="1800">
                <a:latin typeface="+mn-lt"/>
              </a:defRPr>
            </a:lvl2pPr>
            <a:lvl3pPr marL="12573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arenR"/>
              <a:defRPr lang="it-IT" sz="1800">
                <a:latin typeface="+mn-lt"/>
              </a:defRPr>
            </a:lvl3pPr>
            <a:lvl4pPr marL="17145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arenR"/>
              <a:defRPr lang="it-IT" sz="1800">
                <a:latin typeface="+mn-lt"/>
              </a:defRPr>
            </a:lvl4pPr>
            <a:lvl5pPr marL="2057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sp>
        <p:nvSpPr>
          <p:cNvPr id="4" name="Segnaposto contenuto 10">
            <a:extLst>
              <a:ext uri="{FF2B5EF4-FFF2-40B4-BE49-F238E27FC236}">
                <a16:creationId xmlns:a16="http://schemas.microsoft.com/office/drawing/2014/main" id="{60FEDE7C-502F-ECFE-4136-E99206849C2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+ immagin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</p:spPr>
        <p:txBody>
          <a:bodyPr rtlCol="0" anchor="b" anchorCtr="0">
            <a:noAutofit/>
          </a:bodyPr>
          <a:lstStyle>
            <a:lvl1pPr>
              <a:defRPr lang="it-IT" sz="3200"/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4" name="Segnaposto contenuto 10">
            <a:extLst>
              <a:ext uri="{FF2B5EF4-FFF2-40B4-BE49-F238E27FC236}">
                <a16:creationId xmlns:a16="http://schemas.microsoft.com/office/drawing/2014/main" id="{5F30E2A0-23EF-51B1-8ABD-00429EEA06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8200" y="2257063"/>
            <a:ext cx="4894006" cy="3904906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F15552F-C66B-341F-2D37-0389710BA5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00938" y="-22225"/>
            <a:ext cx="4714875" cy="68802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D8DCC6D-8B88-7BE0-7240-F743AE09E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814" y="6303963"/>
            <a:ext cx="4287186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+ tabe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contenuto 10">
            <a:extLst>
              <a:ext uri="{FF2B5EF4-FFF2-40B4-BE49-F238E27FC236}">
                <a16:creationId xmlns:a16="http://schemas.microsoft.com/office/drawing/2014/main" id="{9C3ED3BF-FF6B-07FA-72C4-F6102A8558A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96074" y="2106591"/>
            <a:ext cx="2067045" cy="3633787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6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4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4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2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Segnaposto tabella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83980" y="2106591"/>
            <a:ext cx="7869820" cy="401671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Fare clic sull'icona per inserire una tabella</a:t>
            </a:r>
            <a:endParaRPr lang="it-IT" dirty="0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contenuto 10">
            <a:extLst>
              <a:ext uri="{FF2B5EF4-FFF2-40B4-BE49-F238E27FC236}">
                <a16:creationId xmlns:a16="http://schemas.microsoft.com/office/drawing/2014/main" id="{A524C1E0-92FE-D7D2-83A7-46D29A83887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38200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1" name="Segnaposto contenuto 10">
            <a:extLst>
              <a:ext uri="{FF2B5EF4-FFF2-40B4-BE49-F238E27FC236}">
                <a16:creationId xmlns:a16="http://schemas.microsoft.com/office/drawing/2014/main" id="{427E0367-8E38-8905-DC9A-D0C376A591A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9464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it-IT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it-IT" sz="1800">
                <a:latin typeface="+mn-lt"/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3D847DE-29F2-8ABB-1718-34BED4F37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>
            <a:noAutofit/>
          </a:bodyPr>
          <a:lstStyle>
            <a:lvl1pPr algn="ctr">
              <a:defRPr lang="it-IT" sz="320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tabella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13186" y="2107800"/>
            <a:ext cx="10965628" cy="3920196"/>
          </a:xfrm>
        </p:spPr>
        <p:txBody>
          <a:bodyPr rtlCol="0"/>
          <a:lstStyle>
            <a:lvl1pPr>
              <a:defRPr lang="it-IT"/>
            </a:lvl1pPr>
          </a:lstStyle>
          <a:p>
            <a:pPr rtl="0"/>
            <a:r>
              <a:rPr lang="it-IT"/>
              <a:t>Fare clic sull'icona per inserire una tabella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gnaposto immagine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 algn="ctr">
              <a:buNone/>
              <a:defRPr lang="it-IT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sull'icona per inserire un'immagine</a:t>
            </a: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rtlCol="0" anchor="b">
            <a:noAutofit/>
          </a:bodyPr>
          <a:lstStyle>
            <a:lvl1pPr algn="ctr">
              <a:spcBef>
                <a:spcPts val="1000"/>
              </a:spcBef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075" y="3738622"/>
            <a:ext cx="9467850" cy="2527911"/>
          </a:xfrm>
        </p:spPr>
        <p:txBody>
          <a:bodyPr rtlCol="0">
            <a:normAutofit/>
          </a:bodyPr>
          <a:lstStyle>
            <a:lvl1pPr marL="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lang="it-IT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it-IT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it-IT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it-IT"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rtl="0"/>
            <a:fld id="{CBD12358-51D2-46B3-9BDE-DF29528B945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9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it-IT" sz="4800" kern="1200" cap="all" spc="3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ttotitolo 7">
            <a:extLst>
              <a:ext uri="{FF2B5EF4-FFF2-40B4-BE49-F238E27FC236}">
                <a16:creationId xmlns:a16="http://schemas.microsoft.com/office/drawing/2014/main" id="{F89D56CB-2185-EF85-325D-B75DCC7487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Blender v.5.1.1</a:t>
            </a:r>
          </a:p>
        </p:txBody>
      </p:sp>
      <p:pic>
        <p:nvPicPr>
          <p:cNvPr id="4" name="Segnaposto immagine 7" descr="immagine astratta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 rotWithShape="1">
          <a:blip r:embed="rId3">
            <a:alphaModFix amt="5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6" name="Titolo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PROGETTO STANZA DA BAR A TEMA THE AMAZING DIGITAL CIRCUS</a:t>
            </a:r>
          </a:p>
        </p:txBody>
      </p:sp>
      <p:sp>
        <p:nvSpPr>
          <p:cNvPr id="7" name="Segnaposto piè di pagina 8">
            <a:extLst>
              <a:ext uri="{FF2B5EF4-FFF2-40B4-BE49-F238E27FC236}">
                <a16:creationId xmlns:a16="http://schemas.microsoft.com/office/drawing/2014/main" id="{4AA2920E-508B-5C53-9C9E-BC513115AFA4}"/>
              </a:ext>
            </a:extLst>
          </p:cNvPr>
          <p:cNvSpPr txBox="1">
            <a:spLocks/>
          </p:cNvSpPr>
          <p:nvPr/>
        </p:nvSpPr>
        <p:spPr>
          <a:xfrm>
            <a:off x="2825545" y="6218699"/>
            <a:ext cx="654091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5C36-617B-795C-5A2B-325EA34F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1AD706-11EF-C258-EBD5-C4EEFEAAC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2816" y="457200"/>
            <a:ext cx="4837176" cy="1993392"/>
          </a:xfrm>
          <a:noFill/>
        </p:spPr>
        <p:txBody>
          <a:bodyPr rtlCol="0" anchor="b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AGENDA</a:t>
            </a:r>
          </a:p>
        </p:txBody>
      </p:sp>
      <p:pic>
        <p:nvPicPr>
          <p:cNvPr id="15" name="Segnaposto immagine 14" descr="Gruppo di persone sedute intorno a un tavolo">
            <a:extLst>
              <a:ext uri="{FF2B5EF4-FFF2-40B4-BE49-F238E27FC236}">
                <a16:creationId xmlns:a16="http://schemas.microsoft.com/office/drawing/2014/main" id="{E4DF753A-3575-A0D9-5135-8A94308DC0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2"/>
          <a:stretch/>
        </p:blipFill>
        <p:spPr>
          <a:xfrm>
            <a:off x="-28882" y="0"/>
            <a:ext cx="6115050" cy="6858000"/>
          </a:xfr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2EC4A8-49EE-CF82-CFDC-BA9308ED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818" y="2752344"/>
            <a:ext cx="4837174" cy="3136392"/>
          </a:xfrm>
          <a:noFill/>
        </p:spPr>
        <p:txBody>
          <a:bodyPr rtlCol="0" anchor="t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INTRODUZIONE</a:t>
            </a:r>
          </a:p>
          <a:p>
            <a:pPr rtl="0"/>
            <a:r>
              <a:rPr lang="it-IT" dirty="0"/>
              <a:t>COSTRUIRE LA FIDUCIA</a:t>
            </a:r>
          </a:p>
          <a:p>
            <a:pPr rtl="0"/>
            <a:r>
              <a:rPr lang="it-IT" dirty="0"/>
              <a:t>COINVOLGERE IL PUBBLICO</a:t>
            </a:r>
          </a:p>
          <a:p>
            <a:pPr rtl="0"/>
            <a:r>
              <a:rPr lang="it-IT" dirty="0"/>
              <a:t>SUPPORTI VISIVI</a:t>
            </a:r>
          </a:p>
          <a:p>
            <a:pPr rtl="0"/>
            <a:r>
              <a:rPr lang="it-IT" dirty="0"/>
              <a:t>SUGGERIMENTI FINALI E CONSIDERAZIONI</a:t>
            </a:r>
          </a:p>
        </p:txBody>
      </p:sp>
    </p:spTree>
    <p:extLst>
      <p:ext uri="{BB962C8B-B14F-4D97-AF65-F5344CB8AC3E}">
        <p14:creationId xmlns:p14="http://schemas.microsoft.com/office/powerpoint/2010/main" val="167201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egnaposto immagine 7" descr="primo piano di codice informatico">
            <a:extLst>
              <a:ext uri="{FF2B5EF4-FFF2-40B4-BE49-F238E27FC236}">
                <a16:creationId xmlns:a16="http://schemas.microsoft.com/office/drawing/2014/main" id="{94D43AA7-0244-2FEB-86AC-B5DECE0232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itolo 2">
            <a:extLst>
              <a:ext uri="{FF2B5EF4-FFF2-40B4-BE49-F238E27FC236}">
                <a16:creationId xmlns:a16="http://schemas.microsoft.com/office/drawing/2014/main" id="{B2F3FA79-DE26-1F2A-0CF7-5671B73C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IL POTERE DELLA COMUNICAZIONE</a:t>
            </a:r>
          </a:p>
        </p:txBody>
      </p:sp>
    </p:spTree>
    <p:extLst>
      <p:ext uri="{BB962C8B-B14F-4D97-AF65-F5344CB8AC3E}">
        <p14:creationId xmlns:p14="http://schemas.microsoft.com/office/powerpoint/2010/main" val="467869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  <a:noFill/>
        </p:spPr>
        <p:txBody>
          <a:bodyPr rtlCol="0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SUPERARE IL NERVOSISMO</a:t>
            </a:r>
          </a:p>
        </p:txBody>
      </p:sp>
      <p:pic>
        <p:nvPicPr>
          <p:cNvPr id="91" name="Segnaposto immagine 90" descr="Persona seduta a un tavolo con due dita alzate">
            <a:extLst>
              <a:ext uri="{FF2B5EF4-FFF2-40B4-BE49-F238E27FC236}">
                <a16:creationId xmlns:a16="http://schemas.microsoft.com/office/drawing/2014/main" id="{BC622EA4-CCB7-907A-0126-D0A68A5DC78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1" r="451"/>
          <a:stretch/>
        </p:blipFill>
        <p:spPr>
          <a:xfrm flipH="1">
            <a:off x="6086167" y="-22225"/>
            <a:ext cx="6080760" cy="6902450"/>
          </a:xfrm>
        </p:spPr>
      </p:pic>
      <p:sp>
        <p:nvSpPr>
          <p:cNvPr id="15" name="Sottotitolo 14">
            <a:extLst>
              <a:ext uri="{FF2B5EF4-FFF2-40B4-BE49-F238E27FC236}">
                <a16:creationId xmlns:a16="http://schemas.microsoft.com/office/drawing/2014/main" id="{9C373000-EEA1-D16F-189A-338FFDA2E7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1500" y="4145280"/>
            <a:ext cx="5378450" cy="690880"/>
          </a:xfrm>
        </p:spPr>
        <p:txBody>
          <a:bodyPr tIns="72000"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STRATEGIE PER RAFFORZARE LA FIDUCIA</a:t>
            </a:r>
          </a:p>
        </p:txBody>
      </p:sp>
    </p:spTree>
    <p:extLst>
      <p:ext uri="{BB962C8B-B14F-4D97-AF65-F5344CB8AC3E}">
        <p14:creationId xmlns:p14="http://schemas.microsoft.com/office/powerpoint/2010/main" val="3930438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2425" y="466344"/>
            <a:ext cx="6241651" cy="1710354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/>
              <a:t>COINVOLGERE IL PUBBLICO</a:t>
            </a:r>
          </a:p>
        </p:txBody>
      </p:sp>
      <p:pic>
        <p:nvPicPr>
          <p:cNvPr id="20" name="Segnaposto immagine 7" descr="Persona che parla con un'altra persona">
            <a:extLst>
              <a:ext uri="{FF2B5EF4-FFF2-40B4-BE49-F238E27FC236}">
                <a16:creationId xmlns:a16="http://schemas.microsoft.com/office/drawing/2014/main" id="{59669B42-CC26-1A2A-1FE7-526E425D019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10437" r="10437"/>
          <a:stretch/>
        </p:blipFill>
        <p:spPr>
          <a:xfrm>
            <a:off x="0" y="0"/>
            <a:ext cx="4287838" cy="6858000"/>
          </a:xfr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426" y="2286000"/>
            <a:ext cx="6241650" cy="3474720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Stabilisci un contatto visivo con il pubblico per creare un senso di intimità e coinvolgimento</a:t>
            </a:r>
          </a:p>
          <a:p>
            <a:pPr rtl="0"/>
            <a:r>
              <a:rPr lang="it-IT"/>
              <a:t>Inserisci nelle tue presentazioni storie verosimili, utilizzando narrazioni che rendano il tuo messaggio memorabile e d'impatto</a:t>
            </a:r>
          </a:p>
          <a:p>
            <a:pPr rtl="0"/>
            <a:r>
              <a:rPr lang="it-IT"/>
              <a:t>Incoraggia le domande e fornisci risposte ponderate per migliorare la partecipazione del pubblico</a:t>
            </a:r>
          </a:p>
          <a:p>
            <a:pPr rtl="0"/>
            <a:r>
              <a:rPr lang="it-IT"/>
              <a:t>Utilizza sondaggi live per raccogliere le opinioni del pubblico, promuovendo l'impegno e facendo in modo che il pubblico si senta coinvolto</a:t>
            </a:r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43000"/>
            <a:ext cx="9144000" cy="2286000"/>
          </a:xfrm>
          <a:noFill/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SELEZIONE DEI SUPPORTI VISIVI</a:t>
            </a:r>
          </a:p>
        </p:txBody>
      </p:sp>
      <p:sp>
        <p:nvSpPr>
          <p:cNvPr id="12" name="Sottotitolo 11">
            <a:extLst>
              <a:ext uri="{FF2B5EF4-FFF2-40B4-BE49-F238E27FC236}">
                <a16:creationId xmlns:a16="http://schemas.microsoft.com/office/drawing/2014/main" id="{A336FEA9-C85A-3569-16F0-5ECBABBE0B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35198"/>
            <a:ext cx="9144000" cy="68321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MIGLIORAMENTO DELLA PRESENTAZIONE</a:t>
            </a:r>
          </a:p>
        </p:txBody>
      </p:sp>
    </p:spTree>
    <p:extLst>
      <p:ext uri="{BB962C8B-B14F-4D97-AF65-F5344CB8AC3E}">
        <p14:creationId xmlns:p14="http://schemas.microsoft.com/office/powerpoint/2010/main" val="1679936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880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/>
              <a:t>Tecniche di comunicazione efficaci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A5FD2B-E3E5-1C2B-0151-21F216B14A3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5212079" cy="4137189"/>
          </a:xfrm>
          <a:noFill/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Questo è un potente strumento per l'arte oratoria. Ti aiuterà a variare l'intonazione, il tono e il volume per trasmettere emozioni, enfatizzare punti e mantenere l'interesse:</a:t>
            </a:r>
          </a:p>
          <a:p>
            <a:pPr lvl="1" rtl="0"/>
            <a:r>
              <a:rPr lang="it-IT" dirty="0"/>
              <a:t>Variazione intonazione</a:t>
            </a:r>
          </a:p>
          <a:p>
            <a:pPr lvl="1" rtl="0"/>
            <a:r>
              <a:rPr lang="it-IT" dirty="0"/>
              <a:t>Inflessione del tono</a:t>
            </a:r>
          </a:p>
          <a:p>
            <a:pPr lvl="1" rtl="0"/>
            <a:r>
              <a:rPr lang="it-IT" dirty="0"/>
              <a:t>Controllo del volume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Un linguaggio del corpo efficace valorizza il tuo messaggio, rendendolo più incisivo e memorabile:</a:t>
            </a:r>
          </a:p>
          <a:p>
            <a:pPr lvl="1" rtl="0"/>
            <a:r>
              <a:rPr lang="it-IT" dirty="0"/>
              <a:t>Contatto visivo significativo</a:t>
            </a:r>
          </a:p>
          <a:p>
            <a:pPr lvl="1" rtl="0"/>
            <a:r>
              <a:rPr lang="it-IT" dirty="0"/>
              <a:t>Movimenti intenzionali</a:t>
            </a:r>
          </a:p>
          <a:p>
            <a:pPr lvl="1" rtl="0"/>
            <a:r>
              <a:rPr lang="it-IT" dirty="0"/>
              <a:t>Mantieni una buona postura</a:t>
            </a:r>
          </a:p>
          <a:p>
            <a:pPr lvl="1" rtl="0"/>
            <a:r>
              <a:rPr lang="it-IT" dirty="0"/>
              <a:t>Controlla le espressioni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6AA2678-D2AD-6101-2A00-2289475AE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01E82271-5AF8-5383-F9BC-CA03A764C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64B08CDC-7E23-B72C-FD40-DA86C886D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3159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378" y="365760"/>
            <a:ext cx="11275243" cy="1325880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 dirty="0"/>
              <a:t>ESPLORAZIONE DELLE SESSIONI E DOMANDE E RISPOSTE</a:t>
            </a:r>
          </a:p>
        </p:txBody>
      </p:sp>
      <p:sp>
        <p:nvSpPr>
          <p:cNvPr id="52" name="Segnaposto contenuto 51">
            <a:extLst>
              <a:ext uri="{FF2B5EF4-FFF2-40B4-BE49-F238E27FC236}">
                <a16:creationId xmlns:a16="http://schemas.microsoft.com/office/drawing/2014/main" id="{F2CCE123-860F-8623-781F-12CEA66980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4214567" cy="413718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Preparati sui contenuti in anticipo</a:t>
            </a:r>
          </a:p>
          <a:p>
            <a:pPr rtl="0"/>
            <a:r>
              <a:rPr lang="it-IT" dirty="0"/>
              <a:t>Prevedi le domande comuni</a:t>
            </a:r>
          </a:p>
          <a:p>
            <a:pPr rtl="0"/>
            <a:r>
              <a:rPr lang="it-IT" dirty="0"/>
              <a:t>Prova le risposte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3302BFD-960F-CBB3-E984-CDC12813A1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795" y="2024780"/>
            <a:ext cx="4894006" cy="4137189"/>
          </a:xfrm>
          <a:noFill/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Mantenere la compostezza durante la sessione di domande e risposte è essenziale per proiettare sicurezza e autorità. Considera i seguenti consigli per rimanere composto:</a:t>
            </a:r>
          </a:p>
          <a:p>
            <a:pPr lvl="1" rtl="0"/>
            <a:r>
              <a:rPr lang="it-IT" dirty="0"/>
              <a:t>Mantieni la tranquillità</a:t>
            </a:r>
          </a:p>
          <a:p>
            <a:pPr lvl="1" rtl="0"/>
            <a:r>
              <a:rPr lang="it-IT" dirty="0"/>
              <a:t>Ascolta in modo attivo</a:t>
            </a:r>
          </a:p>
          <a:p>
            <a:pPr lvl="1" rtl="0"/>
            <a:r>
              <a:rPr lang="it-IT" dirty="0"/>
              <a:t>Fermati e rifletti</a:t>
            </a:r>
          </a:p>
          <a:p>
            <a:pPr lvl="1" rtl="0"/>
            <a:r>
              <a:rPr lang="it-IT" dirty="0"/>
              <a:t>Mantieni il contatto visivo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C80227B8-A24C-8C29-034A-D7700B887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0990169-087D-FFAF-6EB9-BACBB5737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71389D98-5B66-D13C-601C-F16165411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magine 15">
            <a:extLst>
              <a:ext uri="{FF2B5EF4-FFF2-40B4-BE49-F238E27FC236}">
                <a16:creationId xmlns:a16="http://schemas.microsoft.com/office/drawing/2014/main" id="{5FFC576B-3E6B-3280-B265-F975909A5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8490" y="-12291"/>
            <a:ext cx="12359148" cy="459047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1027" y="427176"/>
            <a:ext cx="6172200" cy="1581912"/>
          </a:xfrm>
          <a:noFill/>
        </p:spPr>
        <p:txBody>
          <a:bodyPr rtlCol="0" anchor="b"/>
          <a:lstStyle>
            <a:defPPr>
              <a:defRPr lang="it-IT"/>
            </a:defPPr>
          </a:lstStyle>
          <a:p>
            <a:pPr algn="r" rtl="0"/>
            <a:r>
              <a:rPr lang="it-IT" dirty="0">
                <a:solidFill>
                  <a:schemeClr val="bg1"/>
                </a:solidFill>
              </a:rPr>
              <a:t>PLANT.BLEND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C8AA23-D8D0-93BE-5C5F-103A750B0D2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709221" y="2129243"/>
            <a:ext cx="4894006" cy="3904906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Foglie e vaso modellati partendo da un cilindro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Modellazione vaso tramite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r>
              <a:rPr lang="it-IT" dirty="0">
                <a:solidFill>
                  <a:schemeClr val="bg1"/>
                </a:solidFill>
              </a:rPr>
              <a:t>, </a:t>
            </a:r>
            <a:r>
              <a:rPr lang="it-IT" dirty="0" err="1">
                <a:solidFill>
                  <a:schemeClr val="bg1"/>
                </a:solidFill>
              </a:rPr>
              <a:t>knife</a:t>
            </a:r>
            <a:r>
              <a:rPr lang="it-IT" dirty="0">
                <a:solidFill>
                  <a:schemeClr val="bg1"/>
                </a:solidFill>
              </a:rPr>
              <a:t> e scaling in </a:t>
            </a:r>
            <a:r>
              <a:rPr lang="it-IT" dirty="0" err="1">
                <a:solidFill>
                  <a:schemeClr val="bg1"/>
                </a:solidFill>
              </a:rPr>
              <a:t>edit</a:t>
            </a:r>
            <a:r>
              <a:rPr lang="it-IT" dirty="0">
                <a:solidFill>
                  <a:schemeClr val="bg1"/>
                </a:solidFill>
              </a:rPr>
              <a:t> mode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Modellazione foglia tramite trasformazioni base, loop </a:t>
            </a:r>
            <a:r>
              <a:rPr lang="it-IT" dirty="0" err="1">
                <a:solidFill>
                  <a:schemeClr val="bg1"/>
                </a:solidFill>
              </a:rPr>
              <a:t>cut</a:t>
            </a:r>
            <a:r>
              <a:rPr lang="it-IT" dirty="0">
                <a:solidFill>
                  <a:schemeClr val="bg1"/>
                </a:solidFill>
              </a:rPr>
              <a:t> e </a:t>
            </a:r>
            <a:r>
              <a:rPr lang="it-IT" dirty="0" err="1">
                <a:solidFill>
                  <a:schemeClr val="bg1"/>
                </a:solidFill>
              </a:rPr>
              <a:t>bevel</a:t>
            </a:r>
            <a:r>
              <a:rPr lang="it-IT" dirty="0">
                <a:solidFill>
                  <a:schemeClr val="bg1"/>
                </a:solidFill>
              </a:rPr>
              <a:t> 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Modificatore </a:t>
            </a:r>
            <a:r>
              <a:rPr lang="it-IT" dirty="0" err="1">
                <a:solidFill>
                  <a:schemeClr val="bg1"/>
                </a:solidFill>
              </a:rPr>
              <a:t>simple</a:t>
            </a:r>
            <a:r>
              <a:rPr lang="it-IT" dirty="0">
                <a:solidFill>
                  <a:schemeClr val="bg1"/>
                </a:solidFill>
              </a:rPr>
              <a:t> </a:t>
            </a:r>
            <a:r>
              <a:rPr lang="it-IT" dirty="0" err="1">
                <a:solidFill>
                  <a:schemeClr val="bg1"/>
                </a:solidFill>
              </a:rPr>
              <a:t>deform</a:t>
            </a:r>
            <a:r>
              <a:rPr lang="it-IT" dirty="0">
                <a:solidFill>
                  <a:schemeClr val="bg1"/>
                </a:solidFill>
              </a:rPr>
              <a:t> (</a:t>
            </a:r>
            <a:r>
              <a:rPr lang="it-IT" dirty="0" err="1">
                <a:solidFill>
                  <a:schemeClr val="bg1"/>
                </a:solidFill>
              </a:rPr>
              <a:t>bend</a:t>
            </a:r>
            <a:r>
              <a:rPr lang="it-IT" dirty="0">
                <a:solidFill>
                  <a:schemeClr val="bg1"/>
                </a:solidFill>
              </a:rPr>
              <a:t>) applicato a foglia con origine in sfera creata per la facilitazione del processo</a:t>
            </a:r>
          </a:p>
          <a:p>
            <a:pPr marL="285750" indent="-285750" algn="r" rtl="0">
              <a:buFont typeface="Wingdings" panose="05000000000000000000" pitchFamily="2" charset="2"/>
              <a:buChar char="v"/>
            </a:pPr>
            <a:r>
              <a:rPr lang="it-IT" dirty="0">
                <a:solidFill>
                  <a:schemeClr val="bg1"/>
                </a:solidFill>
              </a:rPr>
              <a:t>Tagli delle foglie effettuati tramite </a:t>
            </a:r>
            <a:r>
              <a:rPr lang="it-IT" dirty="0" err="1">
                <a:solidFill>
                  <a:schemeClr val="bg1"/>
                </a:solidFill>
              </a:rPr>
              <a:t>knife</a:t>
            </a:r>
            <a:r>
              <a:rPr lang="it-IT" dirty="0">
                <a:solidFill>
                  <a:schemeClr val="bg1"/>
                </a:solidFill>
              </a:rPr>
              <a:t> in </a:t>
            </a:r>
            <a:r>
              <a:rPr lang="it-IT" dirty="0" err="1">
                <a:solidFill>
                  <a:schemeClr val="bg1"/>
                </a:solidFill>
              </a:rPr>
              <a:t>edit</a:t>
            </a:r>
            <a:r>
              <a:rPr lang="it-IT" dirty="0">
                <a:solidFill>
                  <a:schemeClr val="bg1"/>
                </a:solidFill>
              </a:rPr>
              <a:t> mode</a:t>
            </a:r>
          </a:p>
        </p:txBody>
      </p:sp>
      <p:sp>
        <p:nvSpPr>
          <p:cNvPr id="5" name="Segnaposto piè di pagina 8">
            <a:extLst>
              <a:ext uri="{FF2B5EF4-FFF2-40B4-BE49-F238E27FC236}">
                <a16:creationId xmlns:a16="http://schemas.microsoft.com/office/drawing/2014/main" id="{E7168F18-1A2C-8EC9-5680-59DAD1B949A3}"/>
              </a:ext>
            </a:extLst>
          </p:cNvPr>
          <p:cNvSpPr txBox="1">
            <a:spLocks/>
          </p:cNvSpPr>
          <p:nvPr/>
        </p:nvSpPr>
        <p:spPr>
          <a:xfrm>
            <a:off x="1227803" y="6409944"/>
            <a:ext cx="4114800" cy="365125"/>
          </a:xfrm>
          <a:prstGeom prst="rect">
            <a:avLst/>
          </a:prstGeom>
        </p:spPr>
        <p:txBody>
          <a:bodyPr/>
          <a:lstStyle>
            <a:defPPr rtl="0">
              <a:defRPr lang="it-IT"/>
            </a:defPPr>
            <a:lvl1pPr marL="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200">
                <a:solidFill>
                  <a:schemeClr val="bg1"/>
                </a:solidFill>
              </a:rPr>
              <a:t>Sara Trabattoni Progetto di Informatica Grafica Giugno 2026</a:t>
            </a:r>
            <a:endParaRPr lang="it-IT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597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  <a:noFill/>
        </p:spPr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Comunicazione dinamica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215CE58D-2739-522B-7C3A-6A7C985360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96074" y="2106591"/>
            <a:ext cx="2441015" cy="3633787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Impara a infondere energia nella tua presentazione per lasciare un'impressione duratura</a:t>
            </a:r>
          </a:p>
          <a:p>
            <a:pPr rtl="0"/>
            <a:r>
              <a:rPr lang="it-IT" dirty="0"/>
              <a:t>Uno degli obiettivi di una comunicazione efficace è quello di motivare il tuo pubblico</a:t>
            </a:r>
          </a:p>
        </p:txBody>
      </p:sp>
      <p:graphicFrame>
        <p:nvGraphicFramePr>
          <p:cNvPr id="3" name="Segnaposto tabella 2">
            <a:extLst>
              <a:ext uri="{FF2B5EF4-FFF2-40B4-BE49-F238E27FC236}">
                <a16:creationId xmlns:a16="http://schemas.microsoft.com/office/drawing/2014/main" id="{F01CF5D3-D3B1-1944-CFDF-D8EE11DE42AA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3841882889"/>
              </p:ext>
            </p:extLst>
          </p:nvPr>
        </p:nvGraphicFramePr>
        <p:xfrm>
          <a:off x="3601039" y="2106613"/>
          <a:ext cx="7805352" cy="403233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102438">
                  <a:extLst>
                    <a:ext uri="{9D8B030D-6E8A-4147-A177-3AD203B41FA5}">
                      <a16:colId xmlns:a16="http://schemas.microsoft.com/office/drawing/2014/main" val="127040821"/>
                    </a:ext>
                  </a:extLst>
                </a:gridCol>
                <a:gridCol w="2136286">
                  <a:extLst>
                    <a:ext uri="{9D8B030D-6E8A-4147-A177-3AD203B41FA5}">
                      <a16:colId xmlns:a16="http://schemas.microsoft.com/office/drawing/2014/main" val="149845700"/>
                    </a:ext>
                  </a:extLst>
                </a:gridCol>
                <a:gridCol w="1615290">
                  <a:extLst>
                    <a:ext uri="{9D8B030D-6E8A-4147-A177-3AD203B41FA5}">
                      <a16:colId xmlns:a16="http://schemas.microsoft.com/office/drawing/2014/main" val="3119692462"/>
                    </a:ext>
                  </a:extLst>
                </a:gridCol>
                <a:gridCol w="1951338">
                  <a:extLst>
                    <a:ext uri="{9D8B030D-6E8A-4147-A177-3AD203B41FA5}">
                      <a16:colId xmlns:a16="http://schemas.microsoft.com/office/drawing/2014/main" val="3472639139"/>
                    </a:ext>
                  </a:extLst>
                </a:gridCol>
              </a:tblGrid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METRICA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MISURA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OBIETTIVO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EFFETTIVO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013591"/>
                  </a:ext>
                </a:extLst>
              </a:tr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Partecipazione del pubblico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N. di partecipanti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867931"/>
                  </a:ext>
                </a:extLst>
              </a:tr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Durata dell'impegno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Verbale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209771"/>
                  </a:ext>
                </a:extLst>
              </a:tr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Interazione di Domande e risposte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N. di domande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1031278"/>
                  </a:ext>
                </a:extLst>
              </a:tr>
              <a:tr h="612591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Feedback positivo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1840781"/>
                  </a:ext>
                </a:extLst>
              </a:tr>
              <a:tr h="782030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Frequenza di conservazione delle informazioni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389741"/>
                  </a:ext>
                </a:extLst>
              </a:tr>
            </a:tbl>
          </a:graphicData>
        </a:graphic>
      </p:graphicFrame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31C9AAC3-80CA-6E28-A1CE-5968E6BAD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33C8111-A0CD-0CBD-A845-B98C10AE9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760"/>
            <a:ext cx="10515600" cy="1325563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/>
              <a:t>SUGGERIMENTI FINALI E CONSIDERAZIONI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948542-FCE1-3AE6-C6C9-17975609DF7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8200" y="1790329"/>
            <a:ext cx="5134335" cy="4318240"/>
          </a:xfrm>
          <a:noFill/>
        </p:spPr>
        <p:txBody>
          <a:bodyPr vert="horz" lIns="91440" tIns="45720" rIns="91440" bIns="45720" rtlCol="0" anchor="t">
            <a:normAutofit lnSpcReduction="10000"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Prove costanti</a:t>
            </a:r>
          </a:p>
          <a:p>
            <a:pPr lvl="1" rtl="0"/>
            <a:r>
              <a:rPr lang="it-IT" dirty="0"/>
              <a:t>Rafforza la tua familiarità</a:t>
            </a:r>
          </a:p>
          <a:p>
            <a:pPr rtl="0"/>
            <a:r>
              <a:rPr lang="it-IT" dirty="0"/>
              <a:t>Perfeziona il tuo stile di comunicazione</a:t>
            </a:r>
          </a:p>
          <a:p>
            <a:pPr lvl="1" rtl="0"/>
            <a:r>
              <a:rPr lang="it-IT" dirty="0"/>
              <a:t>Ritmo, tono ed enfasi</a:t>
            </a:r>
          </a:p>
          <a:p>
            <a:pPr rtl="0"/>
            <a:r>
              <a:rPr lang="it-IT" dirty="0"/>
              <a:t>Tempi e transizioni</a:t>
            </a:r>
          </a:p>
          <a:p>
            <a:pPr lvl="1" rtl="0"/>
            <a:r>
              <a:rPr lang="it-IT" dirty="0"/>
              <a:t>Punta a una presentazione professionale e senza interruzioni</a:t>
            </a:r>
          </a:p>
          <a:p>
            <a:pPr rtl="0"/>
            <a:r>
              <a:rPr lang="it-IT" dirty="0"/>
              <a:t>Gruppo di destinatari delle esercitazioni</a:t>
            </a:r>
          </a:p>
          <a:p>
            <a:pPr lvl="1" rtl="0"/>
            <a:r>
              <a:rPr lang="it-IT" dirty="0"/>
              <a:t>Chiedi ai colleghi di ascoltare e fornire un feedback</a:t>
            </a:r>
          </a:p>
          <a:p>
            <a:pPr lvl="1" rtl="0"/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EE67564-0457-E486-97D0-8109D2C97B3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19464" y="1790329"/>
            <a:ext cx="5134335" cy="4113054"/>
          </a:xfrm>
          <a:noFill/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 dirty="0"/>
              <a:t>Richiedi il feedback</a:t>
            </a:r>
          </a:p>
          <a:p>
            <a:pPr rtl="0"/>
            <a:r>
              <a:rPr lang="it-IT" dirty="0"/>
              <a:t>Rifletti sulle tue prestazioni</a:t>
            </a:r>
          </a:p>
          <a:p>
            <a:pPr rtl="0"/>
            <a:r>
              <a:rPr lang="it-IT" dirty="0"/>
              <a:t>Esplora nuove tecniche</a:t>
            </a:r>
          </a:p>
          <a:p>
            <a:pPr rtl="0"/>
            <a:r>
              <a:rPr lang="it-IT" dirty="0"/>
              <a:t>Imposta obiettivi personali</a:t>
            </a:r>
          </a:p>
          <a:p>
            <a:pPr rtl="0"/>
            <a:r>
              <a:rPr lang="it-IT" dirty="0"/>
              <a:t>Ripeti e adatta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3EE39F69-A1C6-AF25-B91E-7EEE8ED9E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100000">
                <a:schemeClr val="accent2">
                  <a:lumMod val="97000"/>
                  <a:lumOff val="3000"/>
                </a:schemeClr>
              </a:gs>
              <a:gs pos="5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E6A11A11-97F0-EDAD-9972-B6689D404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 dirty="0">
                <a:solidFill>
                  <a:schemeClr val="bg1"/>
                </a:solidFill>
              </a:rPr>
              <a:t>Sara Trabattoni Progetto di Informatica Grafica Giugno 2026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576B00A6-42A0-E7D2-7FC4-1FAD42358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DA972-BD3A-3DCD-81F1-7AF161F58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760FE33-53A6-E75A-9BA0-8B7B1BFDD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</p:spPr>
        <p:txBody>
          <a:bodyPr rtlCol="0" anchor="ctr"/>
          <a:lstStyle>
            <a:defPPr>
              <a:defRPr lang="it-IT"/>
            </a:defPPr>
          </a:lstStyle>
          <a:p>
            <a:pPr rtl="0"/>
            <a:r>
              <a:rPr lang="it-IT"/>
              <a:t>METRICHE DI COINVOLGIMENTO DEI RELATORI</a:t>
            </a:r>
          </a:p>
        </p:txBody>
      </p:sp>
      <p:graphicFrame>
        <p:nvGraphicFramePr>
          <p:cNvPr id="12" name="Segnaposto tabella 3">
            <a:extLst>
              <a:ext uri="{FF2B5EF4-FFF2-40B4-BE49-F238E27FC236}">
                <a16:creationId xmlns:a16="http://schemas.microsoft.com/office/drawing/2014/main" id="{CB65501E-A327-D358-9D08-A3694677266E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1839499670"/>
              </p:ext>
            </p:extLst>
          </p:nvPr>
        </p:nvGraphicFramePr>
        <p:xfrm>
          <a:off x="612775" y="2108200"/>
          <a:ext cx="10972800" cy="392019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FATTORE DI IMPATTO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MISURA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OBIETTIVO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RAGGIUNTO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Interazione del gruppo di destinatari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Conservazione della conoscenza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Sondaggi post-presentazione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Valutazione media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Frequenza segnalazioni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Percentuale (%)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53366"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Opportunità di collaborazione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N. di opportunità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>
                          <a:latin typeface="+mn-lt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>
                      <a:defPPr>
                        <a:defRPr lang="it-IT"/>
                      </a:defPPr>
                    </a:lstStyle>
                    <a:p>
                      <a:pPr algn="ctr" rtl="0"/>
                      <a:r>
                        <a:rPr lang="it-IT" b="0" i="0" dirty="0">
                          <a:latin typeface="+mn-lt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6F10022-F4A1-D1E6-ADF1-AFA9DDBF5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it-IT"/>
              <a:t>Sara Trabattoni Progetto di Informatica Grafica Giugno 2026</a:t>
            </a:r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91799A-A892-2498-A776-87E8AFCAC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BD12358-51D2-46B3-9BDE-DF29528B9454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3691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immagine 11" descr="Primo piano di punti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itolo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GRAZIE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62075" y="3738622"/>
            <a:ext cx="9467850" cy="2527911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Brita Tamm</a:t>
            </a:r>
          </a:p>
          <a:p>
            <a:pPr rtl="0"/>
            <a:r>
              <a:rPr lang="it-IT"/>
              <a:t>502-555-0152</a:t>
            </a:r>
          </a:p>
          <a:p>
            <a:pPr rtl="0"/>
            <a:r>
              <a:rPr lang="it-IT"/>
              <a:t>brita@firstupconsultants.com</a:t>
            </a:r>
          </a:p>
          <a:p>
            <a:pPr rtl="0"/>
            <a:r>
              <a:rPr lang="it-IT"/>
              <a:t>www.firstupconsultants.com</a:t>
            </a:r>
          </a:p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zato">
  <a:themeElements>
    <a:clrScheme name="Tech presentation">
      <a:dk1>
        <a:srgbClr val="000000"/>
      </a:dk1>
      <a:lt1>
        <a:srgbClr val="FFFFFF"/>
      </a:lt1>
      <a:dk2>
        <a:srgbClr val="435369"/>
      </a:dk2>
      <a:lt2>
        <a:srgbClr val="E8E8E8"/>
      </a:lt2>
      <a:accent1>
        <a:srgbClr val="A53F51"/>
      </a:accent1>
      <a:accent2>
        <a:srgbClr val="E89756"/>
      </a:accent2>
      <a:accent3>
        <a:srgbClr val="2F3342"/>
      </a:accent3>
      <a:accent4>
        <a:srgbClr val="2B2052"/>
      </a:accent4>
      <a:accent5>
        <a:srgbClr val="00023A"/>
      </a:accent5>
      <a:accent6>
        <a:srgbClr val="7E7E7E"/>
      </a:accent6>
      <a:hlink>
        <a:srgbClr val="467886"/>
      </a:hlink>
      <a:folHlink>
        <a:srgbClr val="96607D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73135363_TF55661986_Win32" id="{7BD3986D-C690-4F35-A1D6-F867D5B16480}" vid="{6BCEC206-704B-4C20-BB83-C3F89288F19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Presentazione tecnica</Template>
  <TotalTime>68</TotalTime>
  <Words>576</Words>
  <Application>Microsoft Office PowerPoint</Application>
  <PresentationFormat>Widescreen</PresentationFormat>
  <Paragraphs>139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0" baseType="lpstr">
      <vt:lpstr>ADLaM Display</vt:lpstr>
      <vt:lpstr>Aptos</vt:lpstr>
      <vt:lpstr>Arial</vt:lpstr>
      <vt:lpstr>Calibri</vt:lpstr>
      <vt:lpstr>Calibri Light</vt:lpstr>
      <vt:lpstr>Wingdings</vt:lpstr>
      <vt:lpstr>Personalizzato</vt:lpstr>
      <vt:lpstr>PROGETTO STANZA DA BAR A TEMA THE AMAZING DIGITAL CIRCUS</vt:lpstr>
      <vt:lpstr>AGENDA</vt:lpstr>
      <vt:lpstr>IL POTERE DELLA COMUNICAZIONE</vt:lpstr>
      <vt:lpstr>SUPERARE IL NERVOSISMO</vt:lpstr>
      <vt:lpstr>COINVOLGERE IL PUBBLICO</vt:lpstr>
      <vt:lpstr>SELEZIONE DEI SUPPORTI VISIVI</vt:lpstr>
      <vt:lpstr>Tecniche di comunicazione efficaci</vt:lpstr>
      <vt:lpstr>ESPLORAZIONE DELLE SESSIONI E DOMANDE E RISPOSTE</vt:lpstr>
      <vt:lpstr>PLANT.BLEND</vt:lpstr>
      <vt:lpstr>Comunicazione dinamica</vt:lpstr>
      <vt:lpstr>SUGGERIMENTI FINALI E CONSIDERAZIONI</vt:lpstr>
      <vt:lpstr>METRICHE DI COINVOLGIMENTO DEI RELATORI</vt:lpstr>
      <vt:lpstr>GRAZIE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s.trabattoni7@campus.unimib.it</dc:creator>
  <cp:lastModifiedBy>s.trabattoni7@campus.unimib.it</cp:lastModifiedBy>
  <cp:revision>3</cp:revision>
  <dcterms:created xsi:type="dcterms:W3CDTF">2026-06-02T21:26:13Z</dcterms:created>
  <dcterms:modified xsi:type="dcterms:W3CDTF">2026-06-02T22:34:47Z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