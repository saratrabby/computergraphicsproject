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281" r:id="rId5"/>
    <p:sldId id="284" r:id="rId6"/>
    <p:sldId id="278" r:id="rId7"/>
    <p:sldId id="273" r:id="rId8"/>
    <p:sldId id="279" r:id="rId9"/>
    <p:sldId id="265" r:id="rId10"/>
    <p:sldId id="296" r:id="rId11"/>
    <p:sldId id="293" r:id="rId12"/>
    <p:sldId id="303" r:id="rId13"/>
    <p:sldId id="304" r:id="rId14"/>
    <p:sldId id="277" r:id="rId15"/>
    <p:sldId id="295" r:id="rId16"/>
    <p:sldId id="294" r:id="rId17"/>
    <p:sldId id="302" r:id="rId18"/>
    <p:sldId id="298" r:id="rId19"/>
    <p:sldId id="261" r:id="rId20"/>
    <p:sldId id="305" r:id="rId21"/>
    <p:sldId id="299" r:id="rId22"/>
    <p:sldId id="297" r:id="rId23"/>
    <p:sldId id="300" r:id="rId24"/>
    <p:sldId id="301" r:id="rId25"/>
    <p:sldId id="268" r:id="rId26"/>
    <p:sldId id="266" r:id="rId27"/>
    <p:sldId id="292" r:id="rId28"/>
    <p:sldId id="282" r:id="rId29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80" d="100"/>
          <a:sy n="80" d="100"/>
        </p:scale>
        <p:origin x="3990" y="1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E71E859D-C47D-46B4-B7F3-6BD17F513007}" type="datetime1">
              <a:rPr lang="it-IT" smtClean="0"/>
              <a:t>07/06/2026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EF757874-EF65-4B61-B062-40C932C8129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fld id="{23B6FD2F-C36A-48EA-8805-F7618F8DDC26}" type="datetime1">
              <a:rPr lang="it-IT" smtClean="0"/>
              <a:pPr/>
              <a:t>07/06/2026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55247812-3409-784D-BAE7-ABE53735D5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918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55431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379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613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6F2B-903C-A4B4-1B4B-4DC23B814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03BD82-5187-6988-E702-522C3AE57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E29A5E-877B-6A26-7972-D181360E3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87B7B19-0968-6591-31ED-DF986631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32956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2F9E-1F40-CF93-18ED-F00350011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2743519-F8D2-79AC-1313-849D5CD75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9451BB2-5A99-4DD1-AB0C-A1E5BDD573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9FE7D92-D79D-33FB-F2AF-B41888B92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87434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BD3D-9572-419D-F5A8-6C74B3EAF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A2A3216-85E0-1878-0626-0951D1AE2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4EA239C-3F34-58E8-15C9-402CCF2AE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35E9619-52B3-27E7-0032-3B8AD5398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2478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59221-7BEA-61EA-08A3-325556751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FC988AD-DD31-99A0-A41C-5791CB710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DA19407-BD88-616E-93C1-C2EF51F6E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0F6F735-A097-C419-AAFF-DDA97B9728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0350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86319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E3184-361B-A088-FF93-21E326518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EBED7F4-C1D9-141E-F356-E876BED15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3ABCBA7-013F-C2A7-28B1-16C02006BF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14125E9-F23B-06C4-1CC3-36BBFE471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3631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982C4-06B5-6562-AD50-AB18BE19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1330002-1680-902D-6343-A0053B4AD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537ACE1-76D7-011F-A284-952874505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E057BD7-93BC-C2A2-A075-47DA10A4A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9458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976CB-2FD8-0BD1-BF13-C45E346FC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351CAF-BFC6-BCE7-AFC4-B73F63362C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F9DF5B-D1BC-4DA5-FBFF-C8BDE32AF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65391E9-D9D8-05E9-7BF9-4947D0294D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235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005C-B8D3-96C3-F365-96608CE1F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D6598E9-DC76-E0AB-4047-103FCFC08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33114D5-7F1A-D0DE-609A-CE4D4B58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E63F821-C0B0-61F6-4C05-8AB1E3D20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014103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4D90-C182-417E-5ABF-AB20CF6E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4E402D-9DB9-A97C-F1CE-89D6098AB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B9FEF26-2F12-ACEB-19A6-9FE1AC1A75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0205A61-BD84-E007-CDC1-691981AD6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61698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6F6BD-4B73-0F96-CD6C-88C5DA53B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8B01175-43C6-F5FC-0A66-401D5F20F6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A1B60D9-9F6B-DDA8-FBFB-5481615B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202C7DA-4616-EB72-3AD6-899250ED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4212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A551-D72F-39CE-3C91-6C1EF931A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6A35BA-B349-C43C-D3A6-ACD4F854E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DB6F3-581A-7719-6464-BECE00FB6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118AA66-9CC2-5FE3-C14B-030113AB4A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8823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E3A8C-94E8-6987-43E7-0E328F10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A238340-8E00-64B5-08B6-9E50A86DB4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D7D4D9-9F83-1FF0-FEBB-3F9AD60EFA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F809C86-FE55-294B-8C2A-03B45C06A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63724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7671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63874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74E77-8F7F-C091-A6CD-F95913330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9FF8D03-BCD3-2516-5A17-7890FD56F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143AAD0-5D1A-5384-531C-8A99D3C155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2E54F1F-92BA-AFB1-9D22-E7208D0FE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62739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3645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immagine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rtlCol="0" anchor="ctr" anchorCtr="0">
            <a:noAutofit/>
          </a:bodyPr>
          <a:lstStyle>
            <a:lvl1pPr algn="ctr">
              <a:defRPr lang="it-IT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rtlCol="0" anchor="b">
            <a:noAutofit/>
          </a:bodyPr>
          <a:lstStyle>
            <a:lvl1pPr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rtlCol="0"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rtlCol="0" anchor="b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 rtlCol="0">
            <a:normAutofit/>
          </a:bodyPr>
          <a:lstStyle>
            <a:lvl1pPr marL="0" indent="0" algn="l">
              <a:buNone/>
              <a:defRPr lang="it-IT" sz="2000"/>
            </a:lvl1pPr>
          </a:lstStyle>
          <a:p>
            <a:pPr rtl="0"/>
            <a:r>
              <a:rPr lang="it-IT"/>
              <a:t>Fai clic sull'icona per inserire un'immagine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it-IT"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sottotitolo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rtlCol="0" anchor="ctr" anchorCtr="0">
            <a:noAutofit/>
          </a:bodyPr>
          <a:lstStyle>
            <a:lvl1pPr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 rtlCol="0"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it-IT" sz="48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it-IT"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sottotitolo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9" name="Segnaposto contenuto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2" name="Segnaposto contenuto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 rtlCol="0"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lang="it-IT"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lang="it-IT"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lang="it-IT"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lang="it-IT"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sp>
        <p:nvSpPr>
          <p:cNvPr id="4" name="Segnaposto contenuto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+ immagi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rtlCol="0" anchor="b" anchorCtr="0">
            <a:noAutofit/>
          </a:bodyPr>
          <a:lstStyle>
            <a:lvl1pPr>
              <a:defRPr lang="it-IT" sz="3200"/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4" name="Segnaposto contenuto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+ 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contenuto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2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tabella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sull'icona per inserire una tabella</a:t>
            </a:r>
            <a:endParaRPr lang="it-IT" dirty="0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contenuto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tabella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 rtlCol="0"/>
          <a:lstStyle>
            <a:lvl1pPr>
              <a:defRPr lang="it-IT"/>
            </a:lvl1pPr>
          </a:lstStyle>
          <a:p>
            <a:pPr rtl="0"/>
            <a:r>
              <a:rPr lang="it-IT"/>
              <a:t>Fare clic sull'icona per inserire una tabella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it-IT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rtlCol="0" anchor="b">
            <a:noAutofit/>
          </a:bodyPr>
          <a:lstStyle>
            <a:lvl1pPr algn="ctr">
              <a:spcBef>
                <a:spcPts val="1000"/>
              </a:spcBef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 rtlCol="0">
            <a:normAutofit/>
          </a:bodyPr>
          <a:lstStyle>
            <a:lvl1pPr marL="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ttotitolo 7">
            <a:extLst>
              <a:ext uri="{FF2B5EF4-FFF2-40B4-BE49-F238E27FC236}">
                <a16:creationId xmlns:a16="http://schemas.microsoft.com/office/drawing/2014/main" id="{F89D56CB-2185-EF85-325D-B75DCC7487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Blender v.5.1.1</a:t>
            </a:r>
          </a:p>
        </p:txBody>
      </p:sp>
      <p:pic>
        <p:nvPicPr>
          <p:cNvPr id="4" name="Segnaposto immagine 7" descr="immagine astratta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olo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PROGETTO STANZA DA BAR A TEMA THE AMAZING DIGITAL CIRCUS</a:t>
            </a:r>
          </a:p>
        </p:txBody>
      </p:sp>
      <p:sp>
        <p:nvSpPr>
          <p:cNvPr id="7" name="Segnaposto piè di pagina 8">
            <a:extLst>
              <a:ext uri="{FF2B5EF4-FFF2-40B4-BE49-F238E27FC236}">
                <a16:creationId xmlns:a16="http://schemas.microsoft.com/office/drawing/2014/main" id="{4AA2920E-508B-5C53-9C9E-BC513115AFA4}"/>
              </a:ext>
            </a:extLst>
          </p:cNvPr>
          <p:cNvSpPr txBox="1">
            <a:spLocks/>
          </p:cNvSpPr>
          <p:nvPr/>
        </p:nvSpPr>
        <p:spPr>
          <a:xfrm>
            <a:off x="2825545" y="6218699"/>
            <a:ext cx="654091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1993392"/>
          </a:xfrm>
          <a:noFill/>
        </p:spPr>
        <p:txBody>
          <a:bodyPr rtlCol="0" anchor="b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AGENDA</a:t>
            </a:r>
          </a:p>
        </p:txBody>
      </p:sp>
      <p:pic>
        <p:nvPicPr>
          <p:cNvPr id="15" name="Segnaposto immagine 14" descr="Gruppo di persone sedute intorno a un tavolo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8" y="2752344"/>
            <a:ext cx="4837174" cy="3136392"/>
          </a:xfrm>
          <a:noFill/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INTRODUZIONE</a:t>
            </a:r>
          </a:p>
          <a:p>
            <a:pPr rtl="0"/>
            <a:r>
              <a:rPr lang="it-IT" dirty="0"/>
              <a:t>COSTRUIRE LA FIDUCIA</a:t>
            </a:r>
          </a:p>
          <a:p>
            <a:pPr rtl="0"/>
            <a:r>
              <a:rPr lang="it-IT" dirty="0"/>
              <a:t>COINVOLGERE IL PUBBLICO</a:t>
            </a:r>
          </a:p>
          <a:p>
            <a:pPr rtl="0"/>
            <a:r>
              <a:rPr lang="it-IT" dirty="0"/>
              <a:t>SUPPORTI VISIVI</a:t>
            </a:r>
          </a:p>
          <a:p>
            <a:pPr rtl="0"/>
            <a:r>
              <a:rPr lang="it-IT" dirty="0"/>
              <a:t>SUGGERIMENTI FINALI E CONSIDERAZIONI</a:t>
            </a:r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 rtlCol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SUPERARE IL NERVOSISMO</a:t>
            </a:r>
          </a:p>
        </p:txBody>
      </p:sp>
      <p:pic>
        <p:nvPicPr>
          <p:cNvPr id="91" name="Segnaposto immagine 90" descr="Persona seduta a un tavolo con due dita alzate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ottotitolo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1500" y="4145280"/>
            <a:ext cx="5378450" cy="690880"/>
          </a:xfrm>
        </p:spPr>
        <p:txBody>
          <a:bodyPr tIns="72000"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STRATEGIE PER RAFFORZARE LA FIDUCIA</a:t>
            </a:r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3000"/>
            <a:ext cx="9144000" cy="2286000"/>
          </a:xfrm>
          <a:noFill/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SELEZIONE DEI SUPPORTI VISIVI</a:t>
            </a:r>
          </a:p>
        </p:txBody>
      </p:sp>
      <p:sp>
        <p:nvSpPr>
          <p:cNvPr id="12" name="Sottotitolo 11">
            <a:extLst>
              <a:ext uri="{FF2B5EF4-FFF2-40B4-BE49-F238E27FC236}">
                <a16:creationId xmlns:a16="http://schemas.microsoft.com/office/drawing/2014/main" id="{A336FEA9-C85A-3569-16F0-5ECBABBE0B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5198"/>
            <a:ext cx="9144000" cy="68321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MIGLIORAMENTO DELLA PRESENTAZIONE</a:t>
            </a:r>
          </a:p>
        </p:txBody>
      </p:sp>
    </p:spTree>
    <p:extLst>
      <p:ext uri="{BB962C8B-B14F-4D97-AF65-F5344CB8AC3E}">
        <p14:creationId xmlns:p14="http://schemas.microsoft.com/office/powerpoint/2010/main" val="167993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Tecniche di comunicazione efficaci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Questo è un potente strumento per l'arte oratoria. Ti aiuterà a variare l'intonazione, il tono e il volume per trasmettere emozioni, enfatizzare punti e mantenere l'interesse:</a:t>
            </a:r>
          </a:p>
          <a:p>
            <a:pPr lvl="1" rtl="0"/>
            <a:r>
              <a:rPr lang="it-IT" dirty="0"/>
              <a:t>Variazione intonazione</a:t>
            </a:r>
          </a:p>
          <a:p>
            <a:pPr lvl="1" rtl="0"/>
            <a:r>
              <a:rPr lang="it-IT" dirty="0"/>
              <a:t>Inflessione del tono</a:t>
            </a:r>
          </a:p>
          <a:p>
            <a:pPr lvl="1" rtl="0"/>
            <a:r>
              <a:rPr lang="it-IT" dirty="0"/>
              <a:t>Controllo del volume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Un linguaggio del corpo efficace valorizza il tuo messaggio, rendendolo più incisivo e memorabile:</a:t>
            </a:r>
          </a:p>
          <a:p>
            <a:pPr lvl="1" rtl="0"/>
            <a:r>
              <a:rPr lang="it-IT" dirty="0"/>
              <a:t>Contatto visivo significativo</a:t>
            </a:r>
          </a:p>
          <a:p>
            <a:pPr lvl="1" rtl="0"/>
            <a:r>
              <a:rPr lang="it-IT" dirty="0"/>
              <a:t>Movimenti intenzionali</a:t>
            </a:r>
          </a:p>
          <a:p>
            <a:pPr lvl="1" rtl="0"/>
            <a:r>
              <a:rPr lang="it-IT" dirty="0"/>
              <a:t>Mantieni una buona postura</a:t>
            </a:r>
          </a:p>
          <a:p>
            <a:pPr lvl="1" rtl="0"/>
            <a:r>
              <a:rPr lang="it-IT" dirty="0"/>
              <a:t>Controlla le espressioni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6AA2678-D2AD-6101-2A00-2289475AE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01E82271-5AF8-5383-F9BC-CA03A764C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64B08CDC-7E23-B72C-FD40-DA86C886D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159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378" y="365760"/>
            <a:ext cx="11275243" cy="132588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ESPLORAZIONE DELLE SESSIONI E DOMANDE E RISPOSTE</a:t>
            </a:r>
          </a:p>
        </p:txBody>
      </p:sp>
      <p:sp>
        <p:nvSpPr>
          <p:cNvPr id="52" name="Segnaposto contenuto 51">
            <a:extLst>
              <a:ext uri="{FF2B5EF4-FFF2-40B4-BE49-F238E27FC236}">
                <a16:creationId xmlns:a16="http://schemas.microsoft.com/office/drawing/2014/main" id="{F2CCE123-860F-8623-781F-12CEA66980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4214567" cy="413718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Preparati sui contenuti in anticipo</a:t>
            </a:r>
          </a:p>
          <a:p>
            <a:pPr rtl="0"/>
            <a:r>
              <a:rPr lang="it-IT" dirty="0"/>
              <a:t>Prevedi le domande comuni</a:t>
            </a:r>
          </a:p>
          <a:p>
            <a:pPr rtl="0"/>
            <a:r>
              <a:rPr lang="it-IT" dirty="0"/>
              <a:t>Prova le risposte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3302BFD-960F-CBB3-E984-CDC12813A1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Mantenere la compostezza durante la sessione di domande e risposte è essenziale per proiettare sicurezza e autorità. Considera i seguenti consigli per rimanere composto:</a:t>
            </a:r>
          </a:p>
          <a:p>
            <a:pPr lvl="1" rtl="0"/>
            <a:r>
              <a:rPr lang="it-IT" dirty="0"/>
              <a:t>Mantieni la tranquillità</a:t>
            </a:r>
          </a:p>
          <a:p>
            <a:pPr lvl="1" rtl="0"/>
            <a:r>
              <a:rPr lang="it-IT" dirty="0"/>
              <a:t>Ascolta in modo attivo</a:t>
            </a:r>
          </a:p>
          <a:p>
            <a:pPr lvl="1" rtl="0"/>
            <a:r>
              <a:rPr lang="it-IT" dirty="0"/>
              <a:t>Fermati e rifletti</a:t>
            </a:r>
          </a:p>
          <a:p>
            <a:pPr lvl="1" rtl="0"/>
            <a:r>
              <a:rPr lang="it-IT" dirty="0"/>
              <a:t>Mantieni il contatto visivo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80227B8-A24C-8C29-034A-D7700B887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0990169-087D-FFAF-6EB9-BACBB5737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1389D98-5B66-D13C-601C-F16165411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1EFF4-7944-4DE4-CA5B-E56A55E9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86436A04-122F-0336-5784-BA47B00521B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EBC7B14D-05B5-05B4-866E-E0EDAEBB3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INTRODUZIONE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4C197E8C-39E5-195B-8DB5-879F8FEB31E0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1749983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6552-C8E2-357A-9CDE-A7AB81B5B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EB2E4B15-FF71-E731-4DE0-70C7E41E197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624A89F9-9ABC-697A-1B9B-2DAE43428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MODELLAZIONE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F8ACDC14-4C8F-DFD7-E793-8864B05D5066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3188857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8D5F9-A213-0D07-484E-78ACDD876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5F7BEA75-A31D-77EB-CDBA-08EB488CA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9888" y="0"/>
            <a:ext cx="12261888" cy="68580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F537B2B-C5C4-CED4-5C7A-008DBD9C63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712" r="30968"/>
          <a:stretch>
            <a:fillRect/>
          </a:stretch>
        </p:blipFill>
        <p:spPr>
          <a:xfrm>
            <a:off x="8378817" y="0"/>
            <a:ext cx="3813183" cy="6858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3A8585-4ABF-D2FF-3666-5F1F91EA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513" y="1847088"/>
            <a:ext cx="6172200" cy="158191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algn="r" rtl="0"/>
            <a:r>
              <a:rPr lang="it-IT" dirty="0">
                <a:solidFill>
                  <a:schemeClr val="bg1"/>
                </a:solidFill>
              </a:rPr>
              <a:t>CHAIR.BLEND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8699FD-A537-6457-4244-858C16F21E0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3707" y="3645850"/>
            <a:ext cx="4894006" cy="3904906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Cuscinetto: modellazione di un cilindro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 e trasformazioni base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Gamba composta da cilindro modificato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 e scaling degli </a:t>
            </a:r>
            <a:r>
              <a:rPr lang="it-IT" dirty="0" err="1">
                <a:solidFill>
                  <a:schemeClr val="bg1"/>
                </a:solidFill>
              </a:rPr>
              <a:t>edge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Aggiunta di un </a:t>
            </a:r>
            <a:r>
              <a:rPr lang="it-IT" dirty="0" err="1">
                <a:solidFill>
                  <a:schemeClr val="bg1"/>
                </a:solidFill>
              </a:rPr>
              <a:t>Torus</a:t>
            </a:r>
            <a:r>
              <a:rPr lang="it-IT" dirty="0">
                <a:solidFill>
                  <a:schemeClr val="bg1"/>
                </a:solidFill>
              </a:rPr>
              <a:t> e due cilindri per il poggiapiedi</a:t>
            </a:r>
          </a:p>
          <a:p>
            <a:pPr algn="r" rtl="0"/>
            <a:endParaRPr lang="it-IT" dirty="0">
              <a:solidFill>
                <a:schemeClr val="bg1"/>
              </a:solidFill>
            </a:endParaRP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6A1DD7D8-0615-2F9D-C5FE-976C4945A83D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3774552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BBEC-3AE4-B6DF-B483-6C85FA83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EA103606-FA4D-F744-6552-4141E1FD2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A01629E-0B34-3F62-915A-91A052DE90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172"/>
          <a:stretch>
            <a:fillRect/>
          </a:stretch>
        </p:blipFill>
        <p:spPr>
          <a:xfrm>
            <a:off x="9307713" y="0"/>
            <a:ext cx="2884287" cy="2286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2B49D59-1B0D-48F1-1A0E-758F0BCF4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1" y="2286000"/>
            <a:ext cx="6172200" cy="158191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algn="r" rtl="0"/>
            <a:r>
              <a:rPr lang="it-IT" dirty="0">
                <a:solidFill>
                  <a:schemeClr val="bg1"/>
                </a:solidFill>
              </a:rPr>
              <a:t>SOFA.BLEND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EE4DBFA-302F-9047-7159-D82AD8C568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11895" y="4084762"/>
            <a:ext cx="4894006" cy="3904906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di quattro cilindri e un cubo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 e trasformazioni semplici di </a:t>
            </a:r>
            <a:r>
              <a:rPr lang="it-IT" dirty="0" err="1">
                <a:solidFill>
                  <a:schemeClr val="bg1"/>
                </a:solidFill>
              </a:rPr>
              <a:t>edge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Utilizzo di </a:t>
            </a:r>
            <a:r>
              <a:rPr lang="it-IT" dirty="0" err="1">
                <a:solidFill>
                  <a:schemeClr val="bg1"/>
                </a:solidFill>
              </a:rPr>
              <a:t>bevel</a:t>
            </a:r>
            <a:r>
              <a:rPr lang="it-IT" dirty="0">
                <a:solidFill>
                  <a:schemeClr val="bg1"/>
                </a:solidFill>
              </a:rPr>
              <a:t> per la curvatura degli angoli</a:t>
            </a:r>
          </a:p>
          <a:p>
            <a:pPr marL="285750" indent="-285750" algn="r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Applicazione del mirroring</a:t>
            </a:r>
          </a:p>
          <a:p>
            <a:pPr algn="r" rtl="0"/>
            <a:endParaRPr lang="it-IT" dirty="0">
              <a:solidFill>
                <a:schemeClr val="bg1"/>
              </a:solidFill>
            </a:endParaRP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EBE818C2-8098-69FF-D5F3-1D3DBE07122A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507CBB7-0BC8-3866-E458-03996DAD2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7712" y="2286000"/>
            <a:ext cx="2884288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528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>
            <a:extLst>
              <a:ext uri="{FF2B5EF4-FFF2-40B4-BE49-F238E27FC236}">
                <a16:creationId xmlns:a16="http://schemas.microsoft.com/office/drawing/2014/main" id="{B922C8A7-3F8E-AC0D-32FB-B1F791A25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406" y="4493341"/>
            <a:ext cx="8396748" cy="2477729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2025D1B-0FF3-717A-B70A-69A309D6B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8490" y="4493343"/>
            <a:ext cx="4114800" cy="2477728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FFC576B-3E6B-3280-B265-F975909A52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8491" y="-12291"/>
            <a:ext cx="12388645" cy="459047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1027" y="427176"/>
            <a:ext cx="6172200" cy="158191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algn="r" rtl="0"/>
            <a:r>
              <a:rPr lang="it-IT" dirty="0">
                <a:solidFill>
                  <a:schemeClr val="bg1"/>
                </a:solidFill>
              </a:rPr>
              <a:t>PLANT.BLEND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09221" y="2129243"/>
            <a:ext cx="4894006" cy="3904906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Foglie e vaso modellati partendo da un cilindro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vaso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knife</a:t>
            </a:r>
            <a:r>
              <a:rPr lang="it-IT" dirty="0">
                <a:solidFill>
                  <a:schemeClr val="bg1"/>
                </a:solidFill>
              </a:rPr>
              <a:t> e scaling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foglia tramite trasformazioni base,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 e </a:t>
            </a:r>
            <a:r>
              <a:rPr lang="it-IT" dirty="0" err="1">
                <a:solidFill>
                  <a:schemeClr val="bg1"/>
                </a:solidFill>
              </a:rPr>
              <a:t>bevel</a:t>
            </a:r>
            <a:r>
              <a:rPr lang="it-IT" dirty="0">
                <a:solidFill>
                  <a:schemeClr val="bg1"/>
                </a:solidFill>
              </a:rPr>
              <a:t> 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Modificatore </a:t>
            </a:r>
            <a:r>
              <a:rPr lang="it-IT" dirty="0" err="1">
                <a:solidFill>
                  <a:schemeClr val="bg1"/>
                </a:solidFill>
              </a:rPr>
              <a:t>simple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deform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bend</a:t>
            </a:r>
            <a:r>
              <a:rPr lang="it-IT" dirty="0">
                <a:solidFill>
                  <a:schemeClr val="bg1"/>
                </a:solidFill>
              </a:rPr>
              <a:t>) applicato a foglia con origine in sfera creata per la facilitazione del processo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Tagli delle foglie effettuati tramite </a:t>
            </a:r>
            <a:r>
              <a:rPr lang="it-IT" dirty="0" err="1">
                <a:solidFill>
                  <a:schemeClr val="bg1"/>
                </a:solidFill>
              </a:rPr>
              <a:t>knife</a:t>
            </a:r>
            <a:r>
              <a:rPr lang="it-IT" dirty="0">
                <a:solidFill>
                  <a:schemeClr val="bg1"/>
                </a:solidFill>
              </a:rPr>
              <a:t>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</a:t>
            </a: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E7168F18-1A2C-8EC9-5680-59DAD1B949A3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1649597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7FDB-F8B9-97A7-7ACB-724F6342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DDE3E606-68D3-1CBB-CF25-90D7177DD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9871" y="-71522"/>
            <a:ext cx="12435270" cy="708192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060B760-C9CA-362F-58D1-F4DAFD5B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01" y="2721573"/>
            <a:ext cx="6172200" cy="158191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rtl="0"/>
            <a:r>
              <a:rPr lang="it-IT" dirty="0">
                <a:solidFill>
                  <a:schemeClr val="bg1"/>
                </a:solidFill>
              </a:rPr>
              <a:t>TWIST.BLEND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F6D7A6-0FEE-1992-4301-21257D73A5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6601" y="4471039"/>
            <a:ext cx="4894006" cy="1771351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Utilizzo di tre cilindri e sfera UV</a:t>
            </a:r>
          </a:p>
          <a:p>
            <a:pPr marL="285750" indent="-285750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cilindro centrale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Modificatore </a:t>
            </a:r>
            <a:r>
              <a:rPr lang="it-IT" dirty="0" err="1">
                <a:solidFill>
                  <a:schemeClr val="bg1"/>
                </a:solidFill>
              </a:rPr>
              <a:t>simple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deform</a:t>
            </a:r>
            <a:r>
              <a:rPr lang="it-IT" dirty="0">
                <a:solidFill>
                  <a:schemeClr val="bg1"/>
                </a:solidFill>
              </a:rPr>
              <a:t> (twist) applicato a cilindro centrale</a:t>
            </a: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1F692F17-400F-9B51-7D2E-96EA951BED63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B5040D2-4E63-08F0-54C8-2BAF90C2C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1370" y="-71522"/>
            <a:ext cx="2970473" cy="708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965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AE8FA-D360-3D08-D7CB-69D51E3C6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FE334991-0CBB-A0C4-575A-C809CA7D3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826" y="-34137"/>
            <a:ext cx="10094128" cy="699537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42D8E28-1885-B73C-5BE4-38C8F7DCB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471" y="-89482"/>
            <a:ext cx="2841523" cy="705072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CD8293B-5ED9-4D03-9C71-D640FFFD1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8202" y="2265377"/>
            <a:ext cx="6172200" cy="158191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algn="r" rtl="0"/>
            <a:r>
              <a:rPr lang="it-IT" dirty="0">
                <a:solidFill>
                  <a:schemeClr val="bg1"/>
                </a:solidFill>
              </a:rPr>
              <a:t>ROPE.BLEND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889B1F-B1CC-8CB7-155A-A0ECAE14F0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6396" y="3949727"/>
            <a:ext cx="4894006" cy="3904906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Fune e metallo modellati partendo da un cilindro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fune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Applicazione del modificatore </a:t>
            </a:r>
            <a:r>
              <a:rPr lang="it-IT" dirty="0" err="1">
                <a:solidFill>
                  <a:schemeClr val="bg1"/>
                </a:solidFill>
              </a:rPr>
              <a:t>simple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deform</a:t>
            </a:r>
            <a:r>
              <a:rPr lang="it-IT" dirty="0">
                <a:solidFill>
                  <a:schemeClr val="bg1"/>
                </a:solidFill>
              </a:rPr>
              <a:t> (twist) 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Applicazione del modificatore </a:t>
            </a:r>
            <a:r>
              <a:rPr lang="it-IT" dirty="0" err="1">
                <a:solidFill>
                  <a:schemeClr val="bg1"/>
                </a:solidFill>
              </a:rPr>
              <a:t>simple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deform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bend</a:t>
            </a:r>
            <a:r>
              <a:rPr lang="it-IT" dirty="0">
                <a:solidFill>
                  <a:schemeClr val="bg1"/>
                </a:solidFill>
              </a:rPr>
              <a:t>) con origine in geometria cubica centrata</a:t>
            </a: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A1982E64-D947-2E9B-05DF-E3EEB9C01871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965553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BDA1B-AA06-41EC-92AB-80B6C5B0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1B4C3A71-1782-6A35-1F7D-0AE1B55A9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811" y="-5875"/>
            <a:ext cx="2984022" cy="693761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8D675E8-8436-62E4-7E80-97CC575A91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555"/>
          <a:stretch>
            <a:fillRect/>
          </a:stretch>
        </p:blipFill>
        <p:spPr>
          <a:xfrm>
            <a:off x="-93372" y="0"/>
            <a:ext cx="9453682" cy="342559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4C8A75A-7F7F-0E39-1222-0F359F1A2D4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893"/>
          <a:stretch>
            <a:fillRect/>
          </a:stretch>
        </p:blipFill>
        <p:spPr>
          <a:xfrm>
            <a:off x="-93372" y="2857153"/>
            <a:ext cx="9453682" cy="407458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70296C2-3414-8FF7-884C-7AD94B25B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3648" y="1511273"/>
            <a:ext cx="6138913" cy="77988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algn="r" rtl="0"/>
            <a:r>
              <a:rPr lang="it-IT" dirty="0">
                <a:solidFill>
                  <a:schemeClr val="bg1"/>
                </a:solidFill>
              </a:rPr>
              <a:t>CUP.BLEND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20FF62-DC48-19DB-AA33-4F31EBFF140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26142" y="2505038"/>
            <a:ext cx="8556419" cy="3904906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Cilindro base deformato tramite trasformazioni semplici 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Duplicazione cilindro e applicazione del modificatore </a:t>
            </a:r>
            <a:r>
              <a:rPr lang="it-IT" dirty="0" err="1">
                <a:solidFill>
                  <a:schemeClr val="bg1"/>
                </a:solidFill>
              </a:rPr>
              <a:t>Boolean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difference</a:t>
            </a:r>
            <a:r>
              <a:rPr lang="it-IT" dirty="0">
                <a:solidFill>
                  <a:schemeClr val="bg1"/>
                </a:solidFill>
              </a:rPr>
              <a:t>)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Oggetti text proiettati tramite il modificatore </a:t>
            </a:r>
            <a:r>
              <a:rPr lang="it-IT" dirty="0" err="1">
                <a:solidFill>
                  <a:schemeClr val="bg1"/>
                </a:solidFill>
              </a:rPr>
              <a:t>Shrinkwrap</a:t>
            </a:r>
            <a:r>
              <a:rPr lang="it-IT" dirty="0">
                <a:solidFill>
                  <a:schemeClr val="bg1"/>
                </a:solidFill>
              </a:rPr>
              <a:t> (proiezione)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Conversione degli oggetti text in mesh (tramite </a:t>
            </a:r>
            <a:r>
              <a:rPr lang="it-IT" dirty="0" err="1">
                <a:solidFill>
                  <a:schemeClr val="bg1"/>
                </a:solidFill>
              </a:rPr>
              <a:t>Convert</a:t>
            </a:r>
            <a:r>
              <a:rPr lang="it-IT" dirty="0">
                <a:solidFill>
                  <a:schemeClr val="bg1"/>
                </a:solidFill>
              </a:rPr>
              <a:t>)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 err="1">
                <a:solidFill>
                  <a:schemeClr val="bg1"/>
                </a:solidFill>
              </a:rPr>
              <a:t>Solidify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Modifier</a:t>
            </a:r>
            <a:r>
              <a:rPr lang="it-IT" dirty="0">
                <a:solidFill>
                  <a:schemeClr val="bg1"/>
                </a:solidFill>
              </a:rPr>
              <a:t> per aggiunta spessore scritte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Creazione ansa tramite Bridge Edge Loops (Blend Surface)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Panna composta da cilindro con loop </a:t>
            </a:r>
            <a:r>
              <a:rPr lang="it-IT" dirty="0" err="1">
                <a:solidFill>
                  <a:schemeClr val="bg1"/>
                </a:solidFill>
              </a:rPr>
              <a:t>cuts</a:t>
            </a:r>
            <a:r>
              <a:rPr lang="it-IT" dirty="0">
                <a:solidFill>
                  <a:schemeClr val="bg1"/>
                </a:solidFill>
              </a:rPr>
              <a:t> e modificatore </a:t>
            </a:r>
            <a:r>
              <a:rPr lang="it-IT" dirty="0" err="1">
                <a:solidFill>
                  <a:schemeClr val="bg1"/>
                </a:solidFill>
              </a:rPr>
              <a:t>SimpleDeform</a:t>
            </a:r>
            <a:r>
              <a:rPr lang="it-IT" dirty="0">
                <a:solidFill>
                  <a:schemeClr val="bg1"/>
                </a:solidFill>
              </a:rPr>
              <a:t> (twist) applicato</a:t>
            </a: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2C0DCB9C-AFE4-16F6-9D5D-5588A6310159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886264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84248-503D-6B3D-C9CB-0E286D5F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2E30D5E6-B024-9909-303A-0185D64851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4D3427DD-8B2B-4A56-7BF2-BE36FD3D8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RIGGING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05C70A48-BAB5-213A-0A87-997EBC6F917A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347226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3915C22-9191-FFEF-8C26-F97993F51B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643"/>
          <a:stretch>
            <a:fillRect/>
          </a:stretch>
        </p:blipFill>
        <p:spPr>
          <a:xfrm>
            <a:off x="-53160" y="-86033"/>
            <a:ext cx="3156643" cy="70300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74" y="2272564"/>
            <a:ext cx="2475897" cy="3474720"/>
          </a:xfr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t">
            <a:normAutofit fontScale="92500"/>
          </a:bodyPr>
          <a:lstStyle>
            <a:defPPr>
              <a:defRPr lang="it-IT"/>
            </a:defPPr>
          </a:lstStyle>
          <a:p>
            <a:pPr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Aggiunta dell’armatura </a:t>
            </a:r>
            <a:r>
              <a:rPr lang="it-IT" dirty="0" err="1">
                <a:solidFill>
                  <a:schemeClr val="bg1"/>
                </a:solidFill>
              </a:rPr>
              <a:t>pre</a:t>
            </a:r>
            <a:r>
              <a:rPr lang="it-IT" dirty="0">
                <a:solidFill>
                  <a:schemeClr val="bg1"/>
                </a:solidFill>
              </a:rPr>
              <a:t>-impostata </a:t>
            </a:r>
            <a:r>
              <a:rPr lang="it-IT" dirty="0" err="1">
                <a:solidFill>
                  <a:schemeClr val="bg1"/>
                </a:solidFill>
              </a:rPr>
              <a:t>Rigify</a:t>
            </a:r>
            <a:r>
              <a:rPr lang="it-IT" dirty="0">
                <a:solidFill>
                  <a:schemeClr val="bg1"/>
                </a:solidFill>
              </a:rPr>
              <a:t> Meta-</a:t>
            </a:r>
            <a:r>
              <a:rPr lang="it-IT" dirty="0" err="1">
                <a:solidFill>
                  <a:schemeClr val="bg1"/>
                </a:solidFill>
              </a:rPr>
              <a:t>Rigs</a:t>
            </a:r>
            <a:r>
              <a:rPr lang="it-IT" dirty="0">
                <a:solidFill>
                  <a:schemeClr val="bg1"/>
                </a:solidFill>
              </a:rPr>
              <a:t> Basic Human</a:t>
            </a:r>
          </a:p>
          <a:p>
            <a:pPr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Aggiunta di ossa per orecchie e dita</a:t>
            </a:r>
          </a:p>
          <a:p>
            <a:pPr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 Rimozione delle componenti inutilizzate</a:t>
            </a:r>
          </a:p>
          <a:p>
            <a:pPr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Associazione delle mesh all’armatura (con pesi automatici)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46011"/>
            <a:ext cx="2905003" cy="770686"/>
          </a:xfrm>
          <a:solidFill>
            <a:schemeClr val="tx1">
              <a:lumMod val="85000"/>
              <a:lumOff val="15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r" rtl="0"/>
            <a:r>
              <a:rPr lang="it-IT" sz="1800" b="1" dirty="0">
                <a:solidFill>
                  <a:schemeClr val="bg1"/>
                </a:solidFill>
              </a:rPr>
              <a:t>1. FORMAZIONE DELLO SCHELETRO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3351A842-0381-64A5-D33A-E18ADF390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82" y="-86034"/>
            <a:ext cx="2992517" cy="70300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4" name="Titolo 1">
            <a:extLst>
              <a:ext uri="{FF2B5EF4-FFF2-40B4-BE49-F238E27FC236}">
                <a16:creationId xmlns:a16="http://schemas.microsoft.com/office/drawing/2014/main" id="{E3F527EA-60BF-8883-9C44-E738A254E6F3}"/>
              </a:ext>
            </a:extLst>
          </p:cNvPr>
          <p:cNvSpPr txBox="1">
            <a:spLocks/>
          </p:cNvSpPr>
          <p:nvPr/>
        </p:nvSpPr>
        <p:spPr>
          <a:xfrm>
            <a:off x="3151132" y="953730"/>
            <a:ext cx="2756545" cy="76296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0" rtlCol="0" anchor="ctr" anchorCtr="0">
            <a:noAutofit/>
          </a:bodyPr>
          <a:lstStyle>
            <a:defPPr>
              <a:defRPr lang="it-IT"/>
            </a:defPPr>
            <a:lvl1pPr algn="r">
              <a:lnSpc>
                <a:spcPct val="90000"/>
              </a:lnSpc>
              <a:spcBef>
                <a:spcPct val="0"/>
              </a:spcBef>
              <a:buNone/>
              <a:defRPr b="1" cap="all" spc="300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it-IT" dirty="0"/>
              <a:t>2. CONTROLLO E MODIFICA DEI VERTEX GROUPS</a:t>
            </a:r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C00C8480-6299-906C-DB09-37C6AFC527BC}"/>
              </a:ext>
            </a:extLst>
          </p:cNvPr>
          <p:cNvSpPr txBox="1">
            <a:spLocks/>
          </p:cNvSpPr>
          <p:nvPr/>
        </p:nvSpPr>
        <p:spPr>
          <a:xfrm>
            <a:off x="3361791" y="3344399"/>
            <a:ext cx="2475897" cy="133104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buFont typeface="Wingdings" panose="05000000000000000000" pitchFamily="2" charset="2"/>
              <a:buChar char="v"/>
            </a:pPr>
            <a:r>
              <a:rPr lang="it-IT" sz="1700" dirty="0">
                <a:solidFill>
                  <a:schemeClr val="bg1"/>
                </a:solidFill>
              </a:rPr>
              <a:t>Molte ossa dello scheletro venivano inizialmente associate a mesh che non le contenevano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2E1F8933-5B88-7DDC-C778-97D36D9F0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9823" y="-86035"/>
            <a:ext cx="2804195" cy="70300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8" name="Titolo 1">
            <a:extLst>
              <a:ext uri="{FF2B5EF4-FFF2-40B4-BE49-F238E27FC236}">
                <a16:creationId xmlns:a16="http://schemas.microsoft.com/office/drawing/2014/main" id="{C94D8314-265D-D80A-5241-07E1C6A7D1D8}"/>
              </a:ext>
            </a:extLst>
          </p:cNvPr>
          <p:cNvSpPr txBox="1">
            <a:spLocks/>
          </p:cNvSpPr>
          <p:nvPr/>
        </p:nvSpPr>
        <p:spPr>
          <a:xfrm>
            <a:off x="6184495" y="1022555"/>
            <a:ext cx="2527377" cy="61759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0" rtlCol="0" anchor="ctr" anchorCtr="0">
            <a:noAutofit/>
          </a:bodyPr>
          <a:lstStyle>
            <a:defPPr>
              <a:defRPr lang="it-IT"/>
            </a:defPPr>
            <a:lvl1pPr algn="r">
              <a:lnSpc>
                <a:spcPct val="90000"/>
              </a:lnSpc>
              <a:spcBef>
                <a:spcPct val="0"/>
              </a:spcBef>
              <a:buNone/>
              <a:defRPr b="1" cap="all" spc="300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it-IT" dirty="0"/>
              <a:t>3. WEIGHT PAINT</a:t>
            </a:r>
          </a:p>
        </p:txBody>
      </p:sp>
      <p:sp>
        <p:nvSpPr>
          <p:cNvPr id="19" name="Segnaposto contenuto 2">
            <a:extLst>
              <a:ext uri="{FF2B5EF4-FFF2-40B4-BE49-F238E27FC236}">
                <a16:creationId xmlns:a16="http://schemas.microsoft.com/office/drawing/2014/main" id="{B86686C4-64AB-A8BE-F5C5-1ABC5BB62063}"/>
              </a:ext>
            </a:extLst>
          </p:cNvPr>
          <p:cNvSpPr txBox="1">
            <a:spLocks/>
          </p:cNvSpPr>
          <p:nvPr/>
        </p:nvSpPr>
        <p:spPr>
          <a:xfrm>
            <a:off x="6283971" y="2748742"/>
            <a:ext cx="2475897" cy="24910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t">
            <a:normAutofit lnSpcReduction="10000"/>
          </a:bodyPr>
          <a:lstStyle>
            <a:defPPr>
              <a:defRPr lang="it-IT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buFont typeface="Wingdings" panose="05000000000000000000" pitchFamily="2" charset="2"/>
              <a:buChar char="v"/>
            </a:pPr>
            <a:r>
              <a:rPr lang="it-IT" sz="1700" dirty="0">
                <a:solidFill>
                  <a:schemeClr val="bg1"/>
                </a:solidFill>
              </a:rPr>
              <a:t>Molti dei pesi automatici sono stati distribuiti irregolarmente fra le ossa, causando malformazioni durante la messa in posa del personaggio. La soluzione è stata quella di pitturare il tutto a mano</a:t>
            </a:r>
          </a:p>
        </p:txBody>
      </p:sp>
      <p:sp>
        <p:nvSpPr>
          <p:cNvPr id="21" name="Segnaposto piè di pagina 8">
            <a:extLst>
              <a:ext uri="{FF2B5EF4-FFF2-40B4-BE49-F238E27FC236}">
                <a16:creationId xmlns:a16="http://schemas.microsoft.com/office/drawing/2014/main" id="{A076CC9D-C2D0-DE1B-1275-D39F2C16D062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5CB86F-8E8C-4E3F-2BB7-F9584EAC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</p:spPr>
        <p:txBody>
          <a:bodyPr anchor="ctr">
            <a:normAutofit/>
          </a:bodyPr>
          <a:lstStyle/>
          <a:p>
            <a:r>
              <a:rPr lang="it-IT" sz="4000" dirty="0"/>
              <a:t>APPLICAZIONE DELLA WEIGHT PAINT SU MESH CHE UTILIZZANO MIRRORING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493EB420-9536-195F-1159-C90C6100F44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/>
        </p:blipFill>
        <p:spPr>
          <a:xfrm>
            <a:off x="838200" y="2029073"/>
            <a:ext cx="2878394" cy="4128605"/>
          </a:xfrm>
          <a:prstGeom prst="rect">
            <a:avLst/>
          </a:prstGeom>
          <a:noFill/>
        </p:spPr>
      </p:pic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AD20631A-4DD0-27D5-9E8E-B55860AC4D8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39383" y="2540256"/>
            <a:ext cx="7524132" cy="139992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numCol="1">
            <a:no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Il </a:t>
            </a:r>
            <a:r>
              <a:rPr lang="en-US" sz="2000" dirty="0" err="1">
                <a:solidFill>
                  <a:schemeClr val="tx1"/>
                </a:solidFill>
              </a:rPr>
              <a:t>comando</a:t>
            </a:r>
            <a:r>
              <a:rPr lang="en-US" sz="2000" dirty="0">
                <a:solidFill>
                  <a:schemeClr val="tx1"/>
                </a:solidFill>
              </a:rPr>
              <a:t> Mirror Vertex Group (o Mirror Vertex Group Topology </a:t>
            </a:r>
            <a:r>
              <a:rPr lang="en-US" sz="2000" dirty="0" err="1">
                <a:solidFill>
                  <a:schemeClr val="tx1"/>
                </a:solidFill>
              </a:rPr>
              <a:t>nel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caso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vertici</a:t>
            </a:r>
            <a:r>
              <a:rPr lang="en-US" sz="2000" dirty="0">
                <a:solidFill>
                  <a:schemeClr val="tx1"/>
                </a:solidFill>
              </a:rPr>
              <a:t> non </a:t>
            </a:r>
            <a:r>
              <a:rPr lang="en-US" sz="2000" dirty="0" err="1">
                <a:solidFill>
                  <a:schemeClr val="tx1"/>
                </a:solidFill>
              </a:rPr>
              <a:t>siano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simmetrici</a:t>
            </a:r>
            <a:r>
              <a:rPr lang="en-US" sz="2000" dirty="0">
                <a:solidFill>
                  <a:schemeClr val="tx1"/>
                </a:solidFill>
              </a:rPr>
              <a:t>) è </a:t>
            </a:r>
            <a:r>
              <a:rPr lang="en-US" sz="2000" dirty="0" err="1">
                <a:solidFill>
                  <a:schemeClr val="tx1"/>
                </a:solidFill>
              </a:rPr>
              <a:t>stato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eseguito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sulle</a:t>
            </a:r>
            <a:r>
              <a:rPr lang="en-US" sz="2000" dirty="0">
                <a:solidFill>
                  <a:schemeClr val="tx1"/>
                </a:solidFill>
              </a:rPr>
              <a:t> mesh in cui il mirroring era </a:t>
            </a:r>
            <a:r>
              <a:rPr lang="en-US" sz="2000" dirty="0" err="1">
                <a:solidFill>
                  <a:schemeClr val="tx1"/>
                </a:solidFill>
              </a:rPr>
              <a:t>già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stato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applicato</a:t>
            </a:r>
            <a:r>
              <a:rPr lang="en-US" sz="20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D85F214-04FD-827F-83FD-D92D920C2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 rtl="0">
              <a:spcAft>
                <a:spcPts val="600"/>
              </a:spcAft>
            </a:pPr>
            <a:r>
              <a:rPr lang="it-IT"/>
              <a:t>Sara Trabattoni Progetto di Informatica Grafica Giugno 2026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FC2626A-65CD-A770-6C6F-E7AA5CD3B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CBD12358-51D2-46B3-9BDE-DF29528B9454}" type="slidenum">
              <a:rPr lang="it-IT" smtClean="0"/>
              <a:pPr rtl="0">
                <a:spcAft>
                  <a:spcPts val="600"/>
                </a:spcAft>
              </a:pPr>
              <a:t>17</a:t>
            </a:fld>
            <a:endParaRPr lang="it-IT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08A0313-C221-DA77-5893-45B058D617BB}"/>
              </a:ext>
            </a:extLst>
          </p:cNvPr>
          <p:cNvSpPr txBox="1">
            <a:spLocks/>
          </p:cNvSpPr>
          <p:nvPr/>
        </p:nvSpPr>
        <p:spPr>
          <a:xfrm>
            <a:off x="4139383" y="4443392"/>
            <a:ext cx="7524131" cy="10643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numCol="1" rtlCol="0">
            <a:noAutofit/>
          </a:bodyPr>
          <a:lstStyle>
            <a:defPPr>
              <a:defRPr lang="it-IT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chemeClr val="tx1"/>
                </a:solidFill>
              </a:rPr>
              <a:t>Lo </a:t>
            </a:r>
            <a:r>
              <a:rPr lang="en-US" sz="2000" dirty="0" err="1">
                <a:solidFill>
                  <a:schemeClr val="tx1"/>
                </a:solidFill>
              </a:rPr>
              <a:t>scopo</a:t>
            </a:r>
            <a:r>
              <a:rPr lang="en-US" sz="2000" dirty="0">
                <a:solidFill>
                  <a:schemeClr val="tx1"/>
                </a:solidFill>
              </a:rPr>
              <a:t> del Mirror Vertex Group è </a:t>
            </a:r>
            <a:r>
              <a:rPr lang="en-US" sz="2000" dirty="0" err="1">
                <a:solidFill>
                  <a:schemeClr val="tx1"/>
                </a:solidFill>
              </a:rPr>
              <a:t>quello</a:t>
            </a:r>
            <a:r>
              <a:rPr lang="en-US" sz="2000" dirty="0">
                <a:solidFill>
                  <a:schemeClr val="tx1"/>
                </a:solidFill>
              </a:rPr>
              <a:t> di </a:t>
            </a:r>
            <a:r>
              <a:rPr lang="en-US" sz="2000" dirty="0" err="1">
                <a:solidFill>
                  <a:schemeClr val="tx1"/>
                </a:solidFill>
              </a:rPr>
              <a:t>distribuire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pesi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su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entrambi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i</a:t>
            </a:r>
            <a:r>
              <a:rPr lang="en-US" sz="2000" dirty="0">
                <a:solidFill>
                  <a:schemeClr val="tx1"/>
                </a:solidFill>
              </a:rPr>
              <a:t> lati, </a:t>
            </a:r>
            <a:r>
              <a:rPr lang="en-US" sz="2000" dirty="0" err="1">
                <a:solidFill>
                  <a:schemeClr val="tx1"/>
                </a:solidFill>
              </a:rPr>
              <a:t>evitando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che</a:t>
            </a:r>
            <a:r>
              <a:rPr lang="en-US" sz="2000" dirty="0">
                <a:solidFill>
                  <a:schemeClr val="tx1"/>
                </a:solidFill>
              </a:rPr>
              <a:t> le mesh </a:t>
            </a:r>
            <a:r>
              <a:rPr lang="en-US" sz="2000" dirty="0" err="1">
                <a:solidFill>
                  <a:schemeClr val="tx1"/>
                </a:solidFill>
              </a:rPr>
              <a:t>si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muovano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assieme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6587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D75FF-05A4-3E27-F401-A71F419C2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5A166828-8C0D-E57F-F140-1AA755969A2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D7230222-49E5-ABD5-FA5C-D6EB351F7F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SHADER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BEE81CCB-1E61-9DE4-F45E-FA814CA52D35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872428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2A981-72F8-A80F-2D05-0DB23C4AD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E3BE70EE-D653-AD90-EAF1-5CBD23FAB08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F8A8E8D2-BB56-2C26-743D-933C85D36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VETRO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8FE5E243-8FEF-BE06-0658-D94C0813A96E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22461455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39F23-5515-DD91-7BCA-6FD537F22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8FC4CBDC-4055-D642-40E9-5CFE796A940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D36F890A-38D9-F065-F8A9-EBAD4CB88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TEXTURE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3961AAF7-112C-CB55-67FB-1638BF158042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10860072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DDDCB-4948-97CF-6B03-2216C8F70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963E5D13-2D52-3275-CF02-3B3ED770F8C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B3BA6926-DC8B-AFE4-1EC0-FB0FA8A59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SCENA</a:t>
            </a:r>
          </a:p>
        </p:txBody>
      </p:sp>
      <p:sp>
        <p:nvSpPr>
          <p:cNvPr id="2" name="Segnaposto piè di pagina 8">
            <a:extLst>
              <a:ext uri="{FF2B5EF4-FFF2-40B4-BE49-F238E27FC236}">
                <a16:creationId xmlns:a16="http://schemas.microsoft.com/office/drawing/2014/main" id="{5D224C21-351B-5BE2-D631-A6C90070D44A}"/>
              </a:ext>
            </a:extLst>
          </p:cNvPr>
          <p:cNvSpPr txBox="1">
            <a:spLocks/>
          </p:cNvSpPr>
          <p:nvPr/>
        </p:nvSpPr>
        <p:spPr>
          <a:xfrm>
            <a:off x="4038600" y="6341119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200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2855829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  <a:noFill/>
        </p:spPr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Comunicazione dinamica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96074" y="2106591"/>
            <a:ext cx="2441015" cy="3633787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Impara a infondere energia nella tua presentazione per lasciare un'impressione duratura</a:t>
            </a:r>
          </a:p>
          <a:p>
            <a:pPr rtl="0"/>
            <a:r>
              <a:rPr lang="it-IT" dirty="0"/>
              <a:t>Uno degli obiettivi di una comunicazione efficace è quello di motivare il tuo pubblico</a:t>
            </a:r>
          </a:p>
        </p:txBody>
      </p:sp>
      <p:graphicFrame>
        <p:nvGraphicFramePr>
          <p:cNvPr id="3" name="Segnaposto tabella 2">
            <a:extLst>
              <a:ext uri="{FF2B5EF4-FFF2-40B4-BE49-F238E27FC236}">
                <a16:creationId xmlns:a16="http://schemas.microsoft.com/office/drawing/2014/main" id="{F01CF5D3-D3B1-1944-CFDF-D8EE11DE42A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841882889"/>
              </p:ext>
            </p:extLst>
          </p:nvPr>
        </p:nvGraphicFramePr>
        <p:xfrm>
          <a:off x="3601039" y="2106613"/>
          <a:ext cx="7805352" cy="403233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0243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136286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615290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951338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METRICA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MISURA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OBIETTIVO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EFFETTIVO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Partecipazione del pubblico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N. di partecipanti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Durata dell'impegno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Verbale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Interazione di Domande e risposte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N. di domande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Feedback positivo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782030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Frequenza di conservazione delle informazioni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31C9AAC3-80CA-6E28-A1CE-5968E6BAD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33C8111-A0CD-0CBD-A845-B98C10AE9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SUGGERIMENTI FINALI E CONSIDERAZIONI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948542-FCE1-3AE6-C6C9-17975609DF7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8200" y="1790329"/>
            <a:ext cx="5134335" cy="4318240"/>
          </a:xfrm>
          <a:noFill/>
        </p:spPr>
        <p:txBody>
          <a:bodyPr vert="horz" lIns="91440" tIns="45720" rIns="91440" bIns="45720" rtlCol="0" anchor="t">
            <a:normAutofit lnSpcReduction="10000"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Prove costanti</a:t>
            </a:r>
          </a:p>
          <a:p>
            <a:pPr lvl="1" rtl="0"/>
            <a:r>
              <a:rPr lang="it-IT" dirty="0"/>
              <a:t>Rafforza la tua familiarità</a:t>
            </a:r>
          </a:p>
          <a:p>
            <a:pPr rtl="0"/>
            <a:r>
              <a:rPr lang="it-IT" dirty="0"/>
              <a:t>Perfeziona il tuo stile di comunicazione</a:t>
            </a:r>
          </a:p>
          <a:p>
            <a:pPr lvl="1" rtl="0"/>
            <a:r>
              <a:rPr lang="it-IT" dirty="0"/>
              <a:t>Ritmo, tono ed enfasi</a:t>
            </a:r>
          </a:p>
          <a:p>
            <a:pPr rtl="0"/>
            <a:r>
              <a:rPr lang="it-IT" dirty="0"/>
              <a:t>Tempi e transizioni</a:t>
            </a:r>
          </a:p>
          <a:p>
            <a:pPr lvl="1" rtl="0"/>
            <a:r>
              <a:rPr lang="it-IT" dirty="0"/>
              <a:t>Punta a una presentazione professionale e senza interruzioni</a:t>
            </a:r>
          </a:p>
          <a:p>
            <a:pPr rtl="0"/>
            <a:r>
              <a:rPr lang="it-IT" dirty="0"/>
              <a:t>Gruppo di destinatari delle esercitazioni</a:t>
            </a:r>
          </a:p>
          <a:p>
            <a:pPr lvl="1" rtl="0"/>
            <a:r>
              <a:rPr lang="it-IT" dirty="0"/>
              <a:t>Chiedi ai colleghi di ascoltare e fornire un feedback</a:t>
            </a:r>
          </a:p>
          <a:p>
            <a:pPr lvl="1" rtl="0"/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19464" y="1790329"/>
            <a:ext cx="5134335" cy="4113054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Richiedi il feedback</a:t>
            </a:r>
          </a:p>
          <a:p>
            <a:pPr rtl="0"/>
            <a:r>
              <a:rPr lang="it-IT" dirty="0"/>
              <a:t>Rifletti sulle tue prestazioni</a:t>
            </a:r>
          </a:p>
          <a:p>
            <a:pPr rtl="0"/>
            <a:r>
              <a:rPr lang="it-IT" dirty="0"/>
              <a:t>Esplora nuove tecniche</a:t>
            </a:r>
          </a:p>
          <a:p>
            <a:pPr rtl="0"/>
            <a:r>
              <a:rPr lang="it-IT" dirty="0"/>
              <a:t>Imposta obiettivi personali</a:t>
            </a:r>
          </a:p>
          <a:p>
            <a:pPr rtl="0"/>
            <a:r>
              <a:rPr lang="it-IT" dirty="0"/>
              <a:t>Ripeti e adatta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EE39F69-A1C6-AF25-B91E-7EEE8ED9E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E6A11A11-97F0-EDAD-9972-B6689D404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576B00A6-42A0-E7D2-7FC4-1FAD42358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DA972-BD3A-3DCD-81F1-7AF161F58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60FE33-53A6-E75A-9BA0-8B7B1BFDD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METRICHE DI COINVOLGIMENTO DEI RELATORI</a:t>
            </a:r>
          </a:p>
        </p:txBody>
      </p:sp>
      <p:graphicFrame>
        <p:nvGraphicFramePr>
          <p:cNvPr id="12" name="Segnaposto tabella 3">
            <a:extLst>
              <a:ext uri="{FF2B5EF4-FFF2-40B4-BE49-F238E27FC236}">
                <a16:creationId xmlns:a16="http://schemas.microsoft.com/office/drawing/2014/main" id="{CB65501E-A327-D358-9D08-A3694677266E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839499670"/>
              </p:ext>
            </p:extLst>
          </p:nvPr>
        </p:nvGraphicFramePr>
        <p:xfrm>
          <a:off x="612775" y="2108200"/>
          <a:ext cx="10972800" cy="392019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FATTORE DI IMPATTO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MISURA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OBIETTIVO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RAGGIUNTO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Interazione del gruppo di destinatari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Conservazione della conoscenza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Sondaggi post-presentazione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Valutazione media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Frequenza segnalazioni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Opportunità di collaborazione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N. di opportunità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6F10022-F4A1-D1E6-ADF1-AFA9DDBF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91799A-A892-2498-A776-87E8AFCAC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3691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immagine 11" descr="Primo piano di punti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olo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GRAZIE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62075" y="3738622"/>
            <a:ext cx="9467850" cy="2527911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Brita Tamm</a:t>
            </a:r>
          </a:p>
          <a:p>
            <a:pPr rtl="0"/>
            <a:r>
              <a:rPr lang="it-IT"/>
              <a:t>502-555-0152</a:t>
            </a:r>
          </a:p>
          <a:p>
            <a:pPr rtl="0"/>
            <a:r>
              <a:rPr lang="it-IT"/>
              <a:t>brita@firstupconsultants.com</a:t>
            </a:r>
          </a:p>
          <a:p>
            <a:pPr rtl="0"/>
            <a:r>
              <a:rPr lang="it-IT"/>
              <a:t>www.firstupconsultants.com</a:t>
            </a:r>
          </a:p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zato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3135363_TF55661986_Win32" id="{7BD3986D-C690-4F35-A1D6-F867D5B16480}" vid="{6BCEC206-704B-4C20-BB83-C3F89288F19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Presentazione tecnica</Template>
  <TotalTime>385</TotalTime>
  <Words>1002</Words>
  <Application>Microsoft Office PowerPoint</Application>
  <PresentationFormat>Widescreen</PresentationFormat>
  <Paragraphs>203</Paragraphs>
  <Slides>25</Slides>
  <Notes>24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2" baseType="lpstr">
      <vt:lpstr>ADLaM Display</vt:lpstr>
      <vt:lpstr>Aptos</vt:lpstr>
      <vt:lpstr>Arial</vt:lpstr>
      <vt:lpstr>Calibri</vt:lpstr>
      <vt:lpstr>Calibri Light</vt:lpstr>
      <vt:lpstr>Wingdings</vt:lpstr>
      <vt:lpstr>Personalizzato</vt:lpstr>
      <vt:lpstr>PROGETTO STANZA DA BAR A TEMA THE AMAZING DIGITAL CIRCUS</vt:lpstr>
      <vt:lpstr>AGENDA</vt:lpstr>
      <vt:lpstr>SUPERARE IL NERVOSISMO</vt:lpstr>
      <vt:lpstr>SELEZIONE DEI SUPPORTI VISIVI</vt:lpstr>
      <vt:lpstr>Tecniche di comunicazione efficaci</vt:lpstr>
      <vt:lpstr>ESPLORAZIONE DELLE SESSIONI E DOMANDE E RISPOSTE</vt:lpstr>
      <vt:lpstr>INTRODUZIONE</vt:lpstr>
      <vt:lpstr>MODELLAZIONE</vt:lpstr>
      <vt:lpstr>CHAIR.BLEND</vt:lpstr>
      <vt:lpstr>SOFA.BLEND</vt:lpstr>
      <vt:lpstr>PLANT.BLEND</vt:lpstr>
      <vt:lpstr>TWIST.BLEND</vt:lpstr>
      <vt:lpstr>ROPE.BLEND</vt:lpstr>
      <vt:lpstr>CUP.BLEND</vt:lpstr>
      <vt:lpstr>RIGGING</vt:lpstr>
      <vt:lpstr>1. FORMAZIONE DELLO SCHELETRO</vt:lpstr>
      <vt:lpstr>APPLICAZIONE DELLA WEIGHT PAINT SU MESH CHE UTILIZZANO MIRRORING</vt:lpstr>
      <vt:lpstr>SHADER</vt:lpstr>
      <vt:lpstr>VETRO</vt:lpstr>
      <vt:lpstr>TEXTURE</vt:lpstr>
      <vt:lpstr>SCENA</vt:lpstr>
      <vt:lpstr>Comunicazione dinamica</vt:lpstr>
      <vt:lpstr>SUGGERIMENTI FINALI E CONSIDERAZIONI</vt:lpstr>
      <vt:lpstr>METRICHE DI COINVOLGIMENTO DEI RELATORI</vt:lpstr>
      <vt:lpstr>GRAZIE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s.trabattoni7@campus.unimib.it</dc:creator>
  <cp:lastModifiedBy>s.trabattoni7@campus.unimib.it</cp:lastModifiedBy>
  <cp:revision>19</cp:revision>
  <dcterms:created xsi:type="dcterms:W3CDTF">2026-06-02T21:26:13Z</dcterms:created>
  <dcterms:modified xsi:type="dcterms:W3CDTF">2026-06-07T11:44:24Z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